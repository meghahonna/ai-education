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20"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21" name="Shape 1"/>
          <p:cNvSpPr/>
          <p:nvPr/>
        </p:nvSpPr>
        <p:spPr>
          <a:xfrm>
            <a:off x="6857999" y="731519"/>
            <a:ext cx="2926082" cy="2926082"/>
          </a:xfrm>
          <a:prstGeom prst="ellipse">
            <a:avLst/>
          </a:prstGeom>
          <a:solidFill>
            <a:srgbClr val="065A82">
              <a:alpha val="60000"/>
            </a:srgbClr>
          </a:solidFill>
          <a:ln w="12700">
            <a:miter lim="400000"/>
          </a:ln>
        </p:spPr>
        <p:txBody>
          <a:bodyPr lIns="45719" rIns="45719"/>
          <a:lstStyle/>
          <a:p>
            <a:pPr/>
          </a:p>
        </p:txBody>
      </p:sp>
      <p:sp>
        <p:nvSpPr>
          <p:cNvPr id="22" name="Shape 2"/>
          <p:cNvSpPr/>
          <p:nvPr/>
        </p:nvSpPr>
        <p:spPr>
          <a:xfrm>
            <a:off x="7315199" y="1188719"/>
            <a:ext cx="2011682" cy="2011682"/>
          </a:xfrm>
          <a:prstGeom prst="ellipse">
            <a:avLst/>
          </a:prstGeom>
          <a:solidFill>
            <a:srgbClr val="1C7293">
              <a:alpha val="50000"/>
            </a:srgbClr>
          </a:solidFill>
          <a:ln w="12700">
            <a:miter lim="400000"/>
          </a:ln>
        </p:spPr>
        <p:txBody>
          <a:bodyPr lIns="45719" rIns="45719"/>
          <a:lstStyle/>
          <a:p>
            <a:pPr/>
          </a:p>
        </p:txBody>
      </p:sp>
      <p:sp>
        <p:nvSpPr>
          <p:cNvPr id="23" name="Text 3"/>
          <p:cNvSpPr txBox="1"/>
          <p:nvPr/>
        </p:nvSpPr>
        <p:spPr>
          <a:xfrm>
            <a:off x="777239" y="989329"/>
            <a:ext cx="6309361" cy="186182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0000"/>
              </a:lnSpc>
              <a:defRPr b="1" sz="3600">
                <a:solidFill>
                  <a:srgbClr val="FFFFFF"/>
                </a:solidFill>
                <a:latin typeface="Georgia"/>
                <a:ea typeface="Georgia"/>
                <a:cs typeface="Georgia"/>
                <a:sym typeface="Georgia"/>
              </a:defRPr>
            </a:pPr>
            <a:r>
              <a:t>AI, Generative AI &amp;</a:t>
            </a:r>
          </a:p>
          <a:p>
            <a:pPr>
              <a:lnSpc>
                <a:spcPct val="120000"/>
              </a:lnSpc>
              <a:defRPr b="1" sz="3600">
                <a:solidFill>
                  <a:srgbClr val="FFFFFF"/>
                </a:solidFill>
                <a:latin typeface="Georgia"/>
                <a:ea typeface="Georgia"/>
                <a:cs typeface="Georgia"/>
                <a:sym typeface="Georgia"/>
              </a:defRPr>
            </a:pPr>
            <a:r>
              <a:t>The Future of Golf Management</a:t>
            </a:r>
          </a:p>
        </p:txBody>
      </p:sp>
      <p:sp>
        <p:nvSpPr>
          <p:cNvPr id="24" name="Text 4"/>
          <p:cNvSpPr txBox="1"/>
          <p:nvPr/>
        </p:nvSpPr>
        <p:spPr>
          <a:xfrm>
            <a:off x="777239" y="3004383"/>
            <a:ext cx="5394961"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600">
                <a:solidFill>
                  <a:srgbClr val="00B4D8"/>
                </a:solidFill>
              </a:defRPr>
            </a:lvl1pPr>
          </a:lstStyle>
          <a:p>
            <a:pPr/>
            <a:r>
              <a:t>From Machine Learning to Prompt Engineering</a:t>
            </a:r>
          </a:p>
        </p:txBody>
      </p:sp>
      <p:sp>
        <p:nvSpPr>
          <p:cNvPr id="25" name="Text 5"/>
          <p:cNvSpPr txBox="1"/>
          <p:nvPr/>
        </p:nvSpPr>
        <p:spPr>
          <a:xfrm>
            <a:off x="777239" y="3882960"/>
            <a:ext cx="2651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5A6E80"/>
                </a:solidFill>
              </a:defRPr>
            </a:lvl1pPr>
          </a:lstStyle>
          <a:p>
            <a:pPr/>
            <a:r>
              <a:t>March 2026</a:t>
            </a:r>
          </a:p>
        </p:txBody>
      </p:sp>
      <p:pic>
        <p:nvPicPr>
          <p:cNvPr id="26" name="Image 0" descr="Image 0"/>
          <p:cNvPicPr>
            <a:picLocks noChangeAspect="1"/>
          </p:cNvPicPr>
          <p:nvPr/>
        </p:nvPicPr>
        <p:blipFill>
          <a:blip r:embed="rId2">
            <a:extLst/>
          </a:blip>
          <a:stretch>
            <a:fillRect/>
          </a:stretch>
        </p:blipFill>
        <p:spPr>
          <a:xfrm>
            <a:off x="731519" y="4297679"/>
            <a:ext cx="320041" cy="320041"/>
          </a:xfrm>
          <a:prstGeom prst="rect">
            <a:avLst/>
          </a:prstGeom>
          <a:ln w="12700">
            <a:miter lim="400000"/>
          </a:ln>
        </p:spPr>
      </p:pic>
      <p:sp>
        <p:nvSpPr>
          <p:cNvPr id="27" name="Text 6"/>
          <p:cNvSpPr txBox="1"/>
          <p:nvPr/>
        </p:nvSpPr>
        <p:spPr>
          <a:xfrm>
            <a:off x="1143000" y="4390566"/>
            <a:ext cx="27432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Sports Management Series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29" name="Shape 0"/>
          <p:cNvSpPr/>
          <p:nvPr/>
        </p:nvSpPr>
        <p:spPr>
          <a:xfrm>
            <a:off x="548639" y="320040"/>
            <a:ext cx="1463042" cy="292609"/>
          </a:xfrm>
          <a:prstGeom prst="rect">
            <a:avLst/>
          </a:prstGeom>
          <a:solidFill>
            <a:srgbClr val="1C7293"/>
          </a:solidFill>
          <a:ln w="12700">
            <a:miter lim="400000"/>
          </a:ln>
        </p:spPr>
        <p:txBody>
          <a:bodyPr lIns="45719" rIns="45719"/>
          <a:lstStyle/>
          <a:p>
            <a:pPr/>
          </a:p>
        </p:txBody>
      </p:sp>
      <p:sp>
        <p:nvSpPr>
          <p:cNvPr id="30" name="Text 1"/>
          <p:cNvSpPr txBox="1"/>
          <p:nvPr/>
        </p:nvSpPr>
        <p:spPr>
          <a:xfrm>
            <a:off x="594359" y="352088"/>
            <a:ext cx="13716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FOUNDATIONS</a:t>
            </a:r>
          </a:p>
        </p:txBody>
      </p:sp>
      <p:sp>
        <p:nvSpPr>
          <p:cNvPr id="31" name="Text 2"/>
          <p:cNvSpPr txBox="1"/>
          <p:nvPr/>
        </p:nvSpPr>
        <p:spPr>
          <a:xfrm>
            <a:off x="548640" y="829310"/>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A1A2E"/>
                </a:solidFill>
                <a:latin typeface="Georgia"/>
                <a:ea typeface="Georgia"/>
                <a:cs typeface="Georgia"/>
                <a:sym typeface="Georgia"/>
              </a:defRPr>
            </a:lvl1pPr>
          </a:lstStyle>
          <a:p>
            <a:pPr/>
            <a:r>
              <a:t>What is Artificial Intelligence?</a:t>
            </a:r>
          </a:p>
        </p:txBody>
      </p:sp>
      <p:sp>
        <p:nvSpPr>
          <p:cNvPr id="32" name="Shape 3"/>
          <p:cNvSpPr/>
          <p:nvPr/>
        </p:nvSpPr>
        <p:spPr>
          <a:xfrm>
            <a:off x="548639" y="1554479"/>
            <a:ext cx="4846322" cy="256032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3" name="Shape 4"/>
          <p:cNvSpPr/>
          <p:nvPr/>
        </p:nvSpPr>
        <p:spPr>
          <a:xfrm>
            <a:off x="548640" y="1554479"/>
            <a:ext cx="64009" cy="2560322"/>
          </a:xfrm>
          <a:prstGeom prst="rect">
            <a:avLst/>
          </a:prstGeom>
          <a:solidFill>
            <a:srgbClr val="1C7293"/>
          </a:solidFill>
          <a:ln w="12700">
            <a:miter lim="400000"/>
          </a:ln>
        </p:spPr>
        <p:txBody>
          <a:bodyPr lIns="45719" rIns="45719"/>
          <a:lstStyle/>
          <a:p>
            <a:pPr/>
          </a:p>
        </p:txBody>
      </p:sp>
      <p:pic>
        <p:nvPicPr>
          <p:cNvPr id="34" name="Image 0" descr="Image 0"/>
          <p:cNvPicPr>
            <a:picLocks noChangeAspect="1"/>
          </p:cNvPicPr>
          <p:nvPr/>
        </p:nvPicPr>
        <p:blipFill>
          <a:blip r:embed="rId2">
            <a:extLst/>
          </a:blip>
          <a:stretch>
            <a:fillRect/>
          </a:stretch>
        </p:blipFill>
        <p:spPr>
          <a:xfrm>
            <a:off x="822960" y="1737360"/>
            <a:ext cx="365761" cy="365761"/>
          </a:xfrm>
          <a:prstGeom prst="rect">
            <a:avLst/>
          </a:prstGeom>
          <a:ln w="12700">
            <a:miter lim="400000"/>
          </a:ln>
        </p:spPr>
      </p:pic>
      <p:sp>
        <p:nvSpPr>
          <p:cNvPr id="35" name="Text 5"/>
          <p:cNvSpPr txBox="1"/>
          <p:nvPr/>
        </p:nvSpPr>
        <p:spPr>
          <a:xfrm>
            <a:off x="1325880" y="1799590"/>
            <a:ext cx="2743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C7293"/>
                </a:solidFill>
                <a:latin typeface="Georgia"/>
                <a:ea typeface="Georgia"/>
                <a:cs typeface="Georgia"/>
                <a:sym typeface="Georgia"/>
              </a:defRPr>
            </a:lvl1pPr>
          </a:lstStyle>
          <a:p>
            <a:pPr/>
            <a:r>
              <a:t>Definition</a:t>
            </a:r>
          </a:p>
        </p:txBody>
      </p:sp>
      <p:sp>
        <p:nvSpPr>
          <p:cNvPr id="36" name="Text 6"/>
          <p:cNvSpPr txBox="1"/>
          <p:nvPr/>
        </p:nvSpPr>
        <p:spPr>
          <a:xfrm>
            <a:off x="868680" y="2315150"/>
            <a:ext cx="4206241" cy="7646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300">
                <a:solidFill>
                  <a:srgbClr val="1A1A2E"/>
                </a:solidFill>
              </a:defRPr>
            </a:lvl1pPr>
          </a:lstStyle>
          <a:p>
            <a:pPr/>
            <a:r>
              <a:t>AI is the simulation of human intelligence by machines. Systems that can perceive, reason, learn, and make decisions to achieve goals.</a:t>
            </a:r>
          </a:p>
        </p:txBody>
      </p:sp>
      <p:sp>
        <p:nvSpPr>
          <p:cNvPr id="37" name="Text 7"/>
          <p:cNvSpPr txBox="1"/>
          <p:nvPr/>
        </p:nvSpPr>
        <p:spPr>
          <a:xfrm>
            <a:off x="868680" y="3285351"/>
            <a:ext cx="4206241" cy="47017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0000"/>
              </a:lnSpc>
              <a:defRPr b="1" sz="1200">
                <a:solidFill>
                  <a:srgbClr val="5A6E80"/>
                </a:solidFill>
              </a:defRPr>
            </a:pPr>
            <a:r>
              <a:t>Key capabilities: </a:t>
            </a:r>
            <a:r>
              <a:rPr b="0"/>
              <a:t>Natural language processing, computer vision, decision-making, pattern recognition</a:t>
            </a:r>
          </a:p>
        </p:txBody>
      </p:sp>
      <p:sp>
        <p:nvSpPr>
          <p:cNvPr id="38" name="Shape 8"/>
          <p:cNvSpPr/>
          <p:nvPr/>
        </p:nvSpPr>
        <p:spPr>
          <a:xfrm>
            <a:off x="5669279" y="1554479"/>
            <a:ext cx="3108961" cy="2560322"/>
          </a:xfrm>
          <a:prstGeom prst="rect">
            <a:avLst/>
          </a:prstGeom>
          <a:solidFill>
            <a:srgbClr val="065A82"/>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39" name="Image 1" descr="Image 1"/>
          <p:cNvPicPr>
            <a:picLocks noChangeAspect="1"/>
          </p:cNvPicPr>
          <p:nvPr/>
        </p:nvPicPr>
        <p:blipFill>
          <a:blip r:embed="rId3">
            <a:extLst/>
          </a:blip>
          <a:stretch>
            <a:fillRect/>
          </a:stretch>
        </p:blipFill>
        <p:spPr>
          <a:xfrm>
            <a:off x="5943600" y="1737360"/>
            <a:ext cx="320041" cy="320041"/>
          </a:xfrm>
          <a:prstGeom prst="rect">
            <a:avLst/>
          </a:prstGeom>
          <a:ln w="12700">
            <a:miter lim="400000"/>
          </a:ln>
        </p:spPr>
      </p:pic>
      <p:sp>
        <p:nvSpPr>
          <p:cNvPr id="40" name="Text 9"/>
          <p:cNvSpPr txBox="1"/>
          <p:nvPr/>
        </p:nvSpPr>
        <p:spPr>
          <a:xfrm>
            <a:off x="6355079" y="1795780"/>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Golf Example</a:t>
            </a:r>
          </a:p>
        </p:txBody>
      </p:sp>
      <p:sp>
        <p:nvSpPr>
          <p:cNvPr id="41" name="Text 10"/>
          <p:cNvSpPr txBox="1"/>
          <p:nvPr/>
        </p:nvSpPr>
        <p:spPr>
          <a:xfrm>
            <a:off x="5989319" y="2463968"/>
            <a:ext cx="2468882" cy="11985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200">
                <a:solidFill>
                  <a:srgbClr val="FFFFFF"/>
                </a:solidFill>
              </a:defRPr>
            </a:lvl1pPr>
          </a:lstStyle>
          <a:p>
            <a:pPr/>
            <a:r>
              <a:t>Toptracer AI cameras track ball flight in real-time during PGA Tour broadcasts, predicting landing zones, carry distance, and shot shape — no human operator needed.</a:t>
            </a:r>
          </a:p>
        </p:txBody>
      </p:sp>
      <p:sp>
        <p:nvSpPr>
          <p:cNvPr id="42" name="Shape 11"/>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43" name="Text 12"/>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2 / 21</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45" name="Shape 0"/>
          <p:cNvSpPr/>
          <p:nvPr/>
        </p:nvSpPr>
        <p:spPr>
          <a:xfrm>
            <a:off x="548639" y="320040"/>
            <a:ext cx="1463042" cy="292609"/>
          </a:xfrm>
          <a:prstGeom prst="rect">
            <a:avLst/>
          </a:prstGeom>
          <a:solidFill>
            <a:srgbClr val="1C7293"/>
          </a:solidFill>
          <a:ln w="12700">
            <a:miter lim="400000"/>
          </a:ln>
        </p:spPr>
        <p:txBody>
          <a:bodyPr lIns="45719" rIns="45719"/>
          <a:lstStyle/>
          <a:p>
            <a:pPr/>
          </a:p>
        </p:txBody>
      </p:sp>
      <p:sp>
        <p:nvSpPr>
          <p:cNvPr id="46" name="Text 1"/>
          <p:cNvSpPr txBox="1"/>
          <p:nvPr/>
        </p:nvSpPr>
        <p:spPr>
          <a:xfrm>
            <a:off x="594359" y="352088"/>
            <a:ext cx="13716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FOUNDATIONS</a:t>
            </a:r>
          </a:p>
        </p:txBody>
      </p:sp>
      <p:sp>
        <p:nvSpPr>
          <p:cNvPr id="47" name="Text 2"/>
          <p:cNvSpPr txBox="1"/>
          <p:nvPr/>
        </p:nvSpPr>
        <p:spPr>
          <a:xfrm>
            <a:off x="548640" y="829310"/>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A1A2E"/>
                </a:solidFill>
                <a:latin typeface="Georgia"/>
                <a:ea typeface="Georgia"/>
                <a:cs typeface="Georgia"/>
                <a:sym typeface="Georgia"/>
              </a:defRPr>
            </a:lvl1pPr>
          </a:lstStyle>
          <a:p>
            <a:pPr/>
            <a:r>
              <a:t>What is Machine Learning?</a:t>
            </a:r>
          </a:p>
        </p:txBody>
      </p:sp>
      <p:sp>
        <p:nvSpPr>
          <p:cNvPr id="48" name="Shape 3"/>
          <p:cNvSpPr/>
          <p:nvPr/>
        </p:nvSpPr>
        <p:spPr>
          <a:xfrm>
            <a:off x="548639" y="1554479"/>
            <a:ext cx="4846322" cy="256032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49" name="Shape 4"/>
          <p:cNvSpPr/>
          <p:nvPr/>
        </p:nvSpPr>
        <p:spPr>
          <a:xfrm>
            <a:off x="548640" y="1554479"/>
            <a:ext cx="64009" cy="2560322"/>
          </a:xfrm>
          <a:prstGeom prst="rect">
            <a:avLst/>
          </a:prstGeom>
          <a:solidFill>
            <a:srgbClr val="00B4D8"/>
          </a:solidFill>
          <a:ln w="12700">
            <a:miter lim="400000"/>
          </a:ln>
        </p:spPr>
        <p:txBody>
          <a:bodyPr lIns="45719" rIns="45719"/>
          <a:lstStyle/>
          <a:p>
            <a:pPr/>
          </a:p>
        </p:txBody>
      </p:sp>
      <p:pic>
        <p:nvPicPr>
          <p:cNvPr id="50" name="Image 0" descr="Image 0"/>
          <p:cNvPicPr>
            <a:picLocks noChangeAspect="1"/>
          </p:cNvPicPr>
          <p:nvPr/>
        </p:nvPicPr>
        <p:blipFill>
          <a:blip r:embed="rId2">
            <a:extLst/>
          </a:blip>
          <a:stretch>
            <a:fillRect/>
          </a:stretch>
        </p:blipFill>
        <p:spPr>
          <a:xfrm>
            <a:off x="822960" y="1737360"/>
            <a:ext cx="365761" cy="365761"/>
          </a:xfrm>
          <a:prstGeom prst="rect">
            <a:avLst/>
          </a:prstGeom>
          <a:ln w="12700">
            <a:miter lim="400000"/>
          </a:ln>
        </p:spPr>
      </p:pic>
      <p:sp>
        <p:nvSpPr>
          <p:cNvPr id="51" name="Text 5"/>
          <p:cNvSpPr txBox="1"/>
          <p:nvPr/>
        </p:nvSpPr>
        <p:spPr>
          <a:xfrm>
            <a:off x="1325880" y="1799590"/>
            <a:ext cx="2743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C7293"/>
                </a:solidFill>
                <a:latin typeface="Georgia"/>
                <a:ea typeface="Georgia"/>
                <a:cs typeface="Georgia"/>
                <a:sym typeface="Georgia"/>
              </a:defRPr>
            </a:lvl1pPr>
          </a:lstStyle>
          <a:p>
            <a:pPr/>
            <a:r>
              <a:t>Definition</a:t>
            </a:r>
          </a:p>
        </p:txBody>
      </p:sp>
      <p:sp>
        <p:nvSpPr>
          <p:cNvPr id="52" name="Text 6"/>
          <p:cNvSpPr txBox="1"/>
          <p:nvPr/>
        </p:nvSpPr>
        <p:spPr>
          <a:xfrm>
            <a:off x="868680" y="2315150"/>
            <a:ext cx="4206241" cy="7646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300">
                <a:solidFill>
                  <a:srgbClr val="1A1A2E"/>
                </a:solidFill>
              </a:defRPr>
            </a:lvl1pPr>
          </a:lstStyle>
          <a:p>
            <a:pPr/>
            <a:r>
              <a:t>A subset of AI where systems learn from data without being explicitly programmed. Algorithms improve through experience, finding patterns in large datasets.</a:t>
            </a:r>
          </a:p>
        </p:txBody>
      </p:sp>
      <p:sp>
        <p:nvSpPr>
          <p:cNvPr id="53" name="Text 7"/>
          <p:cNvSpPr txBox="1"/>
          <p:nvPr/>
        </p:nvSpPr>
        <p:spPr>
          <a:xfrm>
            <a:off x="868680" y="3285351"/>
            <a:ext cx="4206241" cy="47017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0000"/>
              </a:lnSpc>
              <a:defRPr b="1" sz="1200">
                <a:solidFill>
                  <a:srgbClr val="5A6E80"/>
                </a:solidFill>
              </a:defRPr>
            </a:pPr>
            <a:r>
              <a:t>Types: </a:t>
            </a:r>
            <a:r>
              <a:rPr b="0"/>
              <a:t>Supervised learning, unsupervised learning, reinforcement learning</a:t>
            </a:r>
          </a:p>
        </p:txBody>
      </p:sp>
      <p:sp>
        <p:nvSpPr>
          <p:cNvPr id="54" name="Shape 8"/>
          <p:cNvSpPr/>
          <p:nvPr/>
        </p:nvSpPr>
        <p:spPr>
          <a:xfrm>
            <a:off x="5669279" y="1554479"/>
            <a:ext cx="3108961" cy="2560322"/>
          </a:xfrm>
          <a:prstGeom prst="rect">
            <a:avLst/>
          </a:prstGeom>
          <a:solidFill>
            <a:srgbClr val="065A82"/>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55" name="Image 1" descr="Image 1"/>
          <p:cNvPicPr>
            <a:picLocks noChangeAspect="1"/>
          </p:cNvPicPr>
          <p:nvPr/>
        </p:nvPicPr>
        <p:blipFill>
          <a:blip r:embed="rId3">
            <a:extLst/>
          </a:blip>
          <a:stretch>
            <a:fillRect/>
          </a:stretch>
        </p:blipFill>
        <p:spPr>
          <a:xfrm>
            <a:off x="5943600" y="1737360"/>
            <a:ext cx="320041" cy="320041"/>
          </a:xfrm>
          <a:prstGeom prst="rect">
            <a:avLst/>
          </a:prstGeom>
          <a:ln w="12700">
            <a:miter lim="400000"/>
          </a:ln>
        </p:spPr>
      </p:pic>
      <p:sp>
        <p:nvSpPr>
          <p:cNvPr id="56" name="Text 9"/>
          <p:cNvSpPr txBox="1"/>
          <p:nvPr/>
        </p:nvSpPr>
        <p:spPr>
          <a:xfrm>
            <a:off x="6355079" y="1795780"/>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Golf Example</a:t>
            </a:r>
          </a:p>
        </p:txBody>
      </p:sp>
      <p:sp>
        <p:nvSpPr>
          <p:cNvPr id="57" name="Text 10"/>
          <p:cNvSpPr txBox="1"/>
          <p:nvPr/>
        </p:nvSpPr>
        <p:spPr>
          <a:xfrm>
            <a:off x="5989319" y="2463968"/>
            <a:ext cx="2468882" cy="11985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200">
                <a:solidFill>
                  <a:srgbClr val="FFFFFF"/>
                </a:solidFill>
              </a:defRPr>
            </a:lvl1pPr>
          </a:lstStyle>
          <a:p>
            <a:pPr/>
            <a:r>
              <a:t>ML models analyze years of PGA Tour stats (strokes gained, course fit, weather) to predict tournament outcomes and optimize fantasy golf player selections.</a:t>
            </a:r>
          </a:p>
        </p:txBody>
      </p:sp>
      <p:sp>
        <p:nvSpPr>
          <p:cNvPr id="58" name="Shape 11"/>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59" name="Text 12"/>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3 / 21</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61" name="Shape 0"/>
          <p:cNvSpPr/>
          <p:nvPr/>
        </p:nvSpPr>
        <p:spPr>
          <a:xfrm>
            <a:off x="548639" y="320040"/>
            <a:ext cx="1463042" cy="292609"/>
          </a:xfrm>
          <a:prstGeom prst="rect">
            <a:avLst/>
          </a:prstGeom>
          <a:solidFill>
            <a:srgbClr val="1C7293"/>
          </a:solidFill>
          <a:ln w="12700">
            <a:miter lim="400000"/>
          </a:ln>
        </p:spPr>
        <p:txBody>
          <a:bodyPr lIns="45719" rIns="45719"/>
          <a:lstStyle/>
          <a:p>
            <a:pPr/>
          </a:p>
        </p:txBody>
      </p:sp>
      <p:sp>
        <p:nvSpPr>
          <p:cNvPr id="62" name="Text 1"/>
          <p:cNvSpPr txBox="1"/>
          <p:nvPr/>
        </p:nvSpPr>
        <p:spPr>
          <a:xfrm>
            <a:off x="594359" y="352088"/>
            <a:ext cx="13716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FOUNDATIONS</a:t>
            </a:r>
          </a:p>
        </p:txBody>
      </p:sp>
      <p:sp>
        <p:nvSpPr>
          <p:cNvPr id="63" name="Text 2"/>
          <p:cNvSpPr txBox="1"/>
          <p:nvPr/>
        </p:nvSpPr>
        <p:spPr>
          <a:xfrm>
            <a:off x="548640" y="829310"/>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A1A2E"/>
                </a:solidFill>
                <a:latin typeface="Georgia"/>
                <a:ea typeface="Georgia"/>
                <a:cs typeface="Georgia"/>
                <a:sym typeface="Georgia"/>
              </a:defRPr>
            </a:lvl1pPr>
          </a:lstStyle>
          <a:p>
            <a:pPr/>
            <a:r>
              <a:t>What is Deep Learning?</a:t>
            </a:r>
          </a:p>
        </p:txBody>
      </p:sp>
      <p:sp>
        <p:nvSpPr>
          <p:cNvPr id="64" name="Shape 3"/>
          <p:cNvSpPr/>
          <p:nvPr/>
        </p:nvSpPr>
        <p:spPr>
          <a:xfrm>
            <a:off x="548639" y="1554479"/>
            <a:ext cx="4846322" cy="256032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65" name="Shape 4"/>
          <p:cNvSpPr/>
          <p:nvPr/>
        </p:nvSpPr>
        <p:spPr>
          <a:xfrm>
            <a:off x="548640" y="1554479"/>
            <a:ext cx="64009" cy="2560322"/>
          </a:xfrm>
          <a:prstGeom prst="rect">
            <a:avLst/>
          </a:prstGeom>
          <a:solidFill>
            <a:srgbClr val="2EC4B6"/>
          </a:solidFill>
          <a:ln w="12700">
            <a:miter lim="400000"/>
          </a:ln>
        </p:spPr>
        <p:txBody>
          <a:bodyPr lIns="45719" rIns="45719"/>
          <a:lstStyle/>
          <a:p>
            <a:pPr/>
          </a:p>
        </p:txBody>
      </p:sp>
      <p:pic>
        <p:nvPicPr>
          <p:cNvPr id="66" name="Image 0" descr="Image 0"/>
          <p:cNvPicPr>
            <a:picLocks noChangeAspect="1"/>
          </p:cNvPicPr>
          <p:nvPr/>
        </p:nvPicPr>
        <p:blipFill>
          <a:blip r:embed="rId2">
            <a:extLst/>
          </a:blip>
          <a:stretch>
            <a:fillRect/>
          </a:stretch>
        </p:blipFill>
        <p:spPr>
          <a:xfrm>
            <a:off x="822960" y="1737360"/>
            <a:ext cx="365761" cy="365761"/>
          </a:xfrm>
          <a:prstGeom prst="rect">
            <a:avLst/>
          </a:prstGeom>
          <a:ln w="12700">
            <a:miter lim="400000"/>
          </a:ln>
        </p:spPr>
      </p:pic>
      <p:sp>
        <p:nvSpPr>
          <p:cNvPr id="67" name="Text 5"/>
          <p:cNvSpPr txBox="1"/>
          <p:nvPr/>
        </p:nvSpPr>
        <p:spPr>
          <a:xfrm>
            <a:off x="1325880" y="1799590"/>
            <a:ext cx="2743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C7293"/>
                </a:solidFill>
                <a:latin typeface="Georgia"/>
                <a:ea typeface="Georgia"/>
                <a:cs typeface="Georgia"/>
                <a:sym typeface="Georgia"/>
              </a:defRPr>
            </a:lvl1pPr>
          </a:lstStyle>
          <a:p>
            <a:pPr/>
            <a:r>
              <a:t>Definition</a:t>
            </a:r>
          </a:p>
        </p:txBody>
      </p:sp>
      <p:sp>
        <p:nvSpPr>
          <p:cNvPr id="68" name="Text 6"/>
          <p:cNvSpPr txBox="1"/>
          <p:nvPr/>
        </p:nvSpPr>
        <p:spPr>
          <a:xfrm>
            <a:off x="868680" y="2315150"/>
            <a:ext cx="4206241" cy="7646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300">
                <a:solidFill>
                  <a:srgbClr val="1A1A2E"/>
                </a:solidFill>
              </a:defRPr>
            </a:lvl1pPr>
          </a:lstStyle>
          <a:p>
            <a:pPr/>
            <a:r>
              <a:t>A subset of ML using neural networks with many layers (deep architectures). Excels at processing unstructured data like images, audio, and text.</a:t>
            </a:r>
          </a:p>
        </p:txBody>
      </p:sp>
      <p:sp>
        <p:nvSpPr>
          <p:cNvPr id="69" name="Text 7"/>
          <p:cNvSpPr txBox="1"/>
          <p:nvPr/>
        </p:nvSpPr>
        <p:spPr>
          <a:xfrm>
            <a:off x="868680" y="3285351"/>
            <a:ext cx="4206241" cy="47017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0000"/>
              </a:lnSpc>
              <a:defRPr b="1" sz="1200">
                <a:solidFill>
                  <a:srgbClr val="5A6E80"/>
                </a:solidFill>
              </a:defRPr>
            </a:pPr>
            <a:r>
              <a:t>Architecture: </a:t>
            </a:r>
            <a:r>
              <a:rPr b="0"/>
              <a:t>CNNs (vision), RNNs (sequences), Transformers (language)</a:t>
            </a:r>
          </a:p>
        </p:txBody>
      </p:sp>
      <p:sp>
        <p:nvSpPr>
          <p:cNvPr id="70" name="Shape 8"/>
          <p:cNvSpPr/>
          <p:nvPr/>
        </p:nvSpPr>
        <p:spPr>
          <a:xfrm>
            <a:off x="5669279" y="1554479"/>
            <a:ext cx="3108961" cy="2560322"/>
          </a:xfrm>
          <a:prstGeom prst="rect">
            <a:avLst/>
          </a:prstGeom>
          <a:solidFill>
            <a:srgbClr val="065A82"/>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71" name="Image 1" descr="Image 1"/>
          <p:cNvPicPr>
            <a:picLocks noChangeAspect="1"/>
          </p:cNvPicPr>
          <p:nvPr/>
        </p:nvPicPr>
        <p:blipFill>
          <a:blip r:embed="rId3">
            <a:extLst/>
          </a:blip>
          <a:stretch>
            <a:fillRect/>
          </a:stretch>
        </p:blipFill>
        <p:spPr>
          <a:xfrm>
            <a:off x="5943600" y="1737360"/>
            <a:ext cx="320041" cy="320041"/>
          </a:xfrm>
          <a:prstGeom prst="rect">
            <a:avLst/>
          </a:prstGeom>
          <a:ln w="12700">
            <a:miter lim="400000"/>
          </a:ln>
        </p:spPr>
      </p:pic>
      <p:sp>
        <p:nvSpPr>
          <p:cNvPr id="72" name="Text 9"/>
          <p:cNvSpPr txBox="1"/>
          <p:nvPr/>
        </p:nvSpPr>
        <p:spPr>
          <a:xfrm>
            <a:off x="6355079" y="1795780"/>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Golf Example</a:t>
            </a:r>
          </a:p>
        </p:txBody>
      </p:sp>
      <p:sp>
        <p:nvSpPr>
          <p:cNvPr id="73" name="Text 10"/>
          <p:cNvSpPr txBox="1"/>
          <p:nvPr/>
        </p:nvSpPr>
        <p:spPr>
          <a:xfrm>
            <a:off x="5989319" y="2463968"/>
            <a:ext cx="2468882" cy="11985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200">
                <a:solidFill>
                  <a:srgbClr val="FFFFFF"/>
                </a:solidFill>
              </a:defRPr>
            </a:lvl1pPr>
          </a:lstStyle>
          <a:p>
            <a:pPr/>
            <a:r>
              <a:t>Sportsbox AI uses deep learning to create 3D body models from phone video, detecting swing faults by analyzing joint angles and body rotation in real-time.</a:t>
            </a:r>
          </a:p>
        </p:txBody>
      </p:sp>
      <p:sp>
        <p:nvSpPr>
          <p:cNvPr id="74" name="Shape 11"/>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75" name="Text 12"/>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4 / 21</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77" name="Shape 0"/>
          <p:cNvSpPr/>
          <p:nvPr/>
        </p:nvSpPr>
        <p:spPr>
          <a:xfrm>
            <a:off x="548639" y="320040"/>
            <a:ext cx="1463042" cy="292609"/>
          </a:xfrm>
          <a:prstGeom prst="rect">
            <a:avLst/>
          </a:prstGeom>
          <a:solidFill>
            <a:srgbClr val="1C7293"/>
          </a:solidFill>
          <a:ln w="12700">
            <a:miter lim="400000"/>
          </a:ln>
        </p:spPr>
        <p:txBody>
          <a:bodyPr lIns="45719" rIns="45719"/>
          <a:lstStyle/>
          <a:p>
            <a:pPr/>
          </a:p>
        </p:txBody>
      </p:sp>
      <p:sp>
        <p:nvSpPr>
          <p:cNvPr id="78" name="Text 1"/>
          <p:cNvSpPr txBox="1"/>
          <p:nvPr/>
        </p:nvSpPr>
        <p:spPr>
          <a:xfrm>
            <a:off x="594359" y="352088"/>
            <a:ext cx="13716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FOUNDATIONS</a:t>
            </a:r>
          </a:p>
        </p:txBody>
      </p:sp>
      <p:sp>
        <p:nvSpPr>
          <p:cNvPr id="79" name="Text 2"/>
          <p:cNvSpPr txBox="1"/>
          <p:nvPr/>
        </p:nvSpPr>
        <p:spPr>
          <a:xfrm>
            <a:off x="548640" y="829310"/>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A1A2E"/>
                </a:solidFill>
                <a:latin typeface="Georgia"/>
                <a:ea typeface="Georgia"/>
                <a:cs typeface="Georgia"/>
                <a:sym typeface="Georgia"/>
              </a:defRPr>
            </a:lvl1pPr>
          </a:lstStyle>
          <a:p>
            <a:pPr/>
            <a:r>
              <a:t>What is Generative AI?</a:t>
            </a:r>
          </a:p>
        </p:txBody>
      </p:sp>
      <p:sp>
        <p:nvSpPr>
          <p:cNvPr id="80" name="Shape 3"/>
          <p:cNvSpPr/>
          <p:nvPr/>
        </p:nvSpPr>
        <p:spPr>
          <a:xfrm>
            <a:off x="548639" y="1554479"/>
            <a:ext cx="4846322" cy="256032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81" name="Shape 4"/>
          <p:cNvSpPr/>
          <p:nvPr/>
        </p:nvSpPr>
        <p:spPr>
          <a:xfrm>
            <a:off x="548640" y="1554479"/>
            <a:ext cx="64009" cy="2560322"/>
          </a:xfrm>
          <a:prstGeom prst="rect">
            <a:avLst/>
          </a:prstGeom>
          <a:solidFill>
            <a:srgbClr val="F9A825"/>
          </a:solidFill>
          <a:ln w="12700">
            <a:miter lim="400000"/>
          </a:ln>
        </p:spPr>
        <p:txBody>
          <a:bodyPr lIns="45719" rIns="45719"/>
          <a:lstStyle/>
          <a:p>
            <a:pPr/>
          </a:p>
        </p:txBody>
      </p:sp>
      <p:pic>
        <p:nvPicPr>
          <p:cNvPr id="82" name="Image 0" descr="Image 0"/>
          <p:cNvPicPr>
            <a:picLocks noChangeAspect="1"/>
          </p:cNvPicPr>
          <p:nvPr/>
        </p:nvPicPr>
        <p:blipFill>
          <a:blip r:embed="rId2">
            <a:extLst/>
          </a:blip>
          <a:stretch>
            <a:fillRect/>
          </a:stretch>
        </p:blipFill>
        <p:spPr>
          <a:xfrm>
            <a:off x="822960" y="1737360"/>
            <a:ext cx="365761" cy="365761"/>
          </a:xfrm>
          <a:prstGeom prst="rect">
            <a:avLst/>
          </a:prstGeom>
          <a:ln w="12700">
            <a:miter lim="400000"/>
          </a:ln>
        </p:spPr>
      </p:pic>
      <p:sp>
        <p:nvSpPr>
          <p:cNvPr id="83" name="Text 5"/>
          <p:cNvSpPr txBox="1"/>
          <p:nvPr/>
        </p:nvSpPr>
        <p:spPr>
          <a:xfrm>
            <a:off x="1325880" y="1799590"/>
            <a:ext cx="2743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C7293"/>
                </a:solidFill>
                <a:latin typeface="Georgia"/>
                <a:ea typeface="Georgia"/>
                <a:cs typeface="Georgia"/>
                <a:sym typeface="Georgia"/>
              </a:defRPr>
            </a:lvl1pPr>
          </a:lstStyle>
          <a:p>
            <a:pPr/>
            <a:r>
              <a:t>Definition</a:t>
            </a:r>
          </a:p>
        </p:txBody>
      </p:sp>
      <p:sp>
        <p:nvSpPr>
          <p:cNvPr id="84" name="Text 6"/>
          <p:cNvSpPr txBox="1"/>
          <p:nvPr/>
        </p:nvSpPr>
        <p:spPr>
          <a:xfrm>
            <a:off x="868680" y="2315150"/>
            <a:ext cx="4206241" cy="7646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300">
                <a:solidFill>
                  <a:srgbClr val="1A1A2E"/>
                </a:solidFill>
              </a:defRPr>
            </a:lvl1pPr>
          </a:lstStyle>
          <a:p>
            <a:pPr/>
            <a:r>
              <a:t>AI that creates new content — text, images, code, music, strategies. Powered by large language models (LLMs) and diffusion models trained on massive datasets.</a:t>
            </a:r>
          </a:p>
        </p:txBody>
      </p:sp>
      <p:sp>
        <p:nvSpPr>
          <p:cNvPr id="85" name="Text 7"/>
          <p:cNvSpPr txBox="1"/>
          <p:nvPr/>
        </p:nvSpPr>
        <p:spPr>
          <a:xfrm>
            <a:off x="868680" y="3396287"/>
            <a:ext cx="42062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0000"/>
              </a:lnSpc>
              <a:defRPr b="1" sz="1200">
                <a:solidFill>
                  <a:srgbClr val="5A6E80"/>
                </a:solidFill>
              </a:defRPr>
            </a:pPr>
            <a:r>
              <a:t>Examples: </a:t>
            </a:r>
            <a:r>
              <a:rPr b="0"/>
              <a:t>ChatGPT, Claude, Midjourney, GitHub Copilot, DALL-E</a:t>
            </a:r>
          </a:p>
        </p:txBody>
      </p:sp>
      <p:sp>
        <p:nvSpPr>
          <p:cNvPr id="86" name="Shape 8"/>
          <p:cNvSpPr/>
          <p:nvPr/>
        </p:nvSpPr>
        <p:spPr>
          <a:xfrm>
            <a:off x="5669279" y="1554479"/>
            <a:ext cx="3108961" cy="2560322"/>
          </a:xfrm>
          <a:prstGeom prst="rect">
            <a:avLst/>
          </a:prstGeom>
          <a:solidFill>
            <a:srgbClr val="065A82"/>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87" name="Image 1" descr="Image 1"/>
          <p:cNvPicPr>
            <a:picLocks noChangeAspect="1"/>
          </p:cNvPicPr>
          <p:nvPr/>
        </p:nvPicPr>
        <p:blipFill>
          <a:blip r:embed="rId3">
            <a:extLst/>
          </a:blip>
          <a:stretch>
            <a:fillRect/>
          </a:stretch>
        </p:blipFill>
        <p:spPr>
          <a:xfrm>
            <a:off x="5943600" y="1737360"/>
            <a:ext cx="320041" cy="320041"/>
          </a:xfrm>
          <a:prstGeom prst="rect">
            <a:avLst/>
          </a:prstGeom>
          <a:ln w="12700">
            <a:miter lim="400000"/>
          </a:ln>
        </p:spPr>
      </p:pic>
      <p:sp>
        <p:nvSpPr>
          <p:cNvPr id="88" name="Text 9"/>
          <p:cNvSpPr txBox="1"/>
          <p:nvPr/>
        </p:nvSpPr>
        <p:spPr>
          <a:xfrm>
            <a:off x="6355079" y="1795780"/>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Golf Example</a:t>
            </a:r>
          </a:p>
        </p:txBody>
      </p:sp>
      <p:sp>
        <p:nvSpPr>
          <p:cNvPr id="89" name="Text 10"/>
          <p:cNvSpPr txBox="1"/>
          <p:nvPr/>
        </p:nvSpPr>
        <p:spPr>
          <a:xfrm>
            <a:off x="5989319" y="2463968"/>
            <a:ext cx="2468882" cy="11985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200">
                <a:solidFill>
                  <a:srgbClr val="FFFFFF"/>
                </a:solidFill>
              </a:defRPr>
            </a:lvl1pPr>
          </a:lstStyle>
          <a:p>
            <a:pPr/>
            <a:r>
              <a:t>GenAI creates personalized training programs for golfers, auto-generates tournament marketing copy, and produces course condition reports from sensor data.</a:t>
            </a:r>
          </a:p>
        </p:txBody>
      </p:sp>
      <p:sp>
        <p:nvSpPr>
          <p:cNvPr id="90" name="Shape 11"/>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91" name="Text 12"/>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5 / 21</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93"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94" name="Text 1"/>
          <p:cNvSpPr txBox="1"/>
          <p:nvPr/>
        </p:nvSpPr>
        <p:spPr>
          <a:xfrm>
            <a:off x="548640" y="372110"/>
            <a:ext cx="82296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Georgia"/>
                <a:ea typeface="Georgia"/>
                <a:cs typeface="Georgia"/>
                <a:sym typeface="Georgia"/>
              </a:defRPr>
            </a:lvl1pPr>
          </a:lstStyle>
          <a:p>
            <a:pPr/>
            <a:r>
              <a:t>Why You Need to Know About AI Now</a:t>
            </a:r>
          </a:p>
        </p:txBody>
      </p:sp>
      <p:sp>
        <p:nvSpPr>
          <p:cNvPr id="95" name="Text 2"/>
          <p:cNvSpPr txBox="1"/>
          <p:nvPr/>
        </p:nvSpPr>
        <p:spPr>
          <a:xfrm>
            <a:off x="594360" y="8883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solidFill>
                  <a:srgbClr val="00B4D8"/>
                </a:solidFill>
              </a:defRPr>
            </a:lvl1pPr>
          </a:lstStyle>
          <a:p>
            <a:pPr/>
            <a:r>
              <a:t>Generative AI is empowering humans with superpowers</a:t>
            </a:r>
          </a:p>
        </p:txBody>
      </p:sp>
      <p:sp>
        <p:nvSpPr>
          <p:cNvPr id="96" name="Shape 3"/>
          <p:cNvSpPr/>
          <p:nvPr/>
        </p:nvSpPr>
        <p:spPr>
          <a:xfrm>
            <a:off x="548640" y="1463039"/>
            <a:ext cx="3840480" cy="128016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97" name="Image 0" descr="Image 0"/>
          <p:cNvPicPr>
            <a:picLocks noChangeAspect="1"/>
          </p:cNvPicPr>
          <p:nvPr/>
        </p:nvPicPr>
        <p:blipFill>
          <a:blip r:embed="rId2">
            <a:extLst/>
          </a:blip>
          <a:stretch>
            <a:fillRect/>
          </a:stretch>
        </p:blipFill>
        <p:spPr>
          <a:xfrm>
            <a:off x="731519" y="1691639"/>
            <a:ext cx="365761" cy="365761"/>
          </a:xfrm>
          <a:prstGeom prst="rect">
            <a:avLst/>
          </a:prstGeom>
          <a:ln w="12700">
            <a:miter lim="400000"/>
          </a:ln>
        </p:spPr>
      </p:pic>
      <p:sp>
        <p:nvSpPr>
          <p:cNvPr id="98" name="Text 4"/>
          <p:cNvSpPr txBox="1"/>
          <p:nvPr/>
        </p:nvSpPr>
        <p:spPr>
          <a:xfrm>
            <a:off x="1234439" y="1720850"/>
            <a:ext cx="29260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Content Creation</a:t>
            </a:r>
          </a:p>
        </p:txBody>
      </p:sp>
      <p:sp>
        <p:nvSpPr>
          <p:cNvPr id="99" name="Text 5"/>
          <p:cNvSpPr txBox="1"/>
          <p:nvPr/>
        </p:nvSpPr>
        <p:spPr>
          <a:xfrm>
            <a:off x="1280159" y="2122889"/>
            <a:ext cx="2834642"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Write reports, emails, social media, marketing copy in seconds. 10x productivity.</a:t>
            </a:r>
          </a:p>
        </p:txBody>
      </p:sp>
      <p:sp>
        <p:nvSpPr>
          <p:cNvPr id="100" name="Shape 6"/>
          <p:cNvSpPr/>
          <p:nvPr/>
        </p:nvSpPr>
        <p:spPr>
          <a:xfrm>
            <a:off x="4754879" y="1463039"/>
            <a:ext cx="3840481" cy="128016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101" name="Image 1" descr="Image 1"/>
          <p:cNvPicPr>
            <a:picLocks noChangeAspect="1"/>
          </p:cNvPicPr>
          <p:nvPr/>
        </p:nvPicPr>
        <p:blipFill>
          <a:blip r:embed="rId3">
            <a:extLst/>
          </a:blip>
          <a:stretch>
            <a:fillRect/>
          </a:stretch>
        </p:blipFill>
        <p:spPr>
          <a:xfrm>
            <a:off x="4937759" y="1691639"/>
            <a:ext cx="365761" cy="365761"/>
          </a:xfrm>
          <a:prstGeom prst="rect">
            <a:avLst/>
          </a:prstGeom>
          <a:ln w="12700">
            <a:miter lim="400000"/>
          </a:ln>
        </p:spPr>
      </p:pic>
      <p:sp>
        <p:nvSpPr>
          <p:cNvPr id="102" name="Text 7"/>
          <p:cNvSpPr txBox="1"/>
          <p:nvPr/>
        </p:nvSpPr>
        <p:spPr>
          <a:xfrm>
            <a:off x="5440679" y="1720850"/>
            <a:ext cx="29260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Data Analysis</a:t>
            </a:r>
          </a:p>
        </p:txBody>
      </p:sp>
      <p:sp>
        <p:nvSpPr>
          <p:cNvPr id="103" name="Text 8"/>
          <p:cNvSpPr txBox="1"/>
          <p:nvPr/>
        </p:nvSpPr>
        <p:spPr>
          <a:xfrm>
            <a:off x="5486399" y="2122889"/>
            <a:ext cx="283464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Analyze datasets, find patterns, generate insights. No coding required.</a:t>
            </a:r>
          </a:p>
        </p:txBody>
      </p:sp>
      <p:sp>
        <p:nvSpPr>
          <p:cNvPr id="104" name="Shape 9"/>
          <p:cNvSpPr/>
          <p:nvPr/>
        </p:nvSpPr>
        <p:spPr>
          <a:xfrm>
            <a:off x="548640" y="2971799"/>
            <a:ext cx="3840480" cy="1280162"/>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105" name="Image 2" descr="Image 2"/>
          <p:cNvPicPr>
            <a:picLocks noChangeAspect="1"/>
          </p:cNvPicPr>
          <p:nvPr/>
        </p:nvPicPr>
        <p:blipFill>
          <a:blip r:embed="rId4">
            <a:extLst/>
          </a:blip>
          <a:stretch>
            <a:fillRect/>
          </a:stretch>
        </p:blipFill>
        <p:spPr>
          <a:xfrm>
            <a:off x="731519" y="3200400"/>
            <a:ext cx="365761" cy="365760"/>
          </a:xfrm>
          <a:prstGeom prst="rect">
            <a:avLst/>
          </a:prstGeom>
          <a:ln w="12700">
            <a:miter lim="400000"/>
          </a:ln>
        </p:spPr>
      </p:pic>
      <p:sp>
        <p:nvSpPr>
          <p:cNvPr id="106" name="Text 10"/>
          <p:cNvSpPr txBox="1"/>
          <p:nvPr/>
        </p:nvSpPr>
        <p:spPr>
          <a:xfrm>
            <a:off x="1234439" y="3229609"/>
            <a:ext cx="29260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Code Generation</a:t>
            </a:r>
          </a:p>
        </p:txBody>
      </p:sp>
      <p:sp>
        <p:nvSpPr>
          <p:cNvPr id="107" name="Text 11"/>
          <p:cNvSpPr txBox="1"/>
          <p:nvPr/>
        </p:nvSpPr>
        <p:spPr>
          <a:xfrm>
            <a:off x="1280159" y="3631649"/>
            <a:ext cx="2834642"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Build apps, automate workflows, create tools. Natural language to code.</a:t>
            </a:r>
          </a:p>
        </p:txBody>
      </p:sp>
      <p:sp>
        <p:nvSpPr>
          <p:cNvPr id="108" name="Shape 12"/>
          <p:cNvSpPr/>
          <p:nvPr/>
        </p:nvSpPr>
        <p:spPr>
          <a:xfrm>
            <a:off x="4754879" y="2971799"/>
            <a:ext cx="3840481" cy="1280162"/>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109" name="Image 3" descr="Image 3"/>
          <p:cNvPicPr>
            <a:picLocks noChangeAspect="1"/>
          </p:cNvPicPr>
          <p:nvPr/>
        </p:nvPicPr>
        <p:blipFill>
          <a:blip r:embed="rId5">
            <a:extLst/>
          </a:blip>
          <a:stretch>
            <a:fillRect/>
          </a:stretch>
        </p:blipFill>
        <p:spPr>
          <a:xfrm>
            <a:off x="4937759" y="3200400"/>
            <a:ext cx="365761" cy="365760"/>
          </a:xfrm>
          <a:prstGeom prst="rect">
            <a:avLst/>
          </a:prstGeom>
          <a:ln w="12700">
            <a:miter lim="400000"/>
          </a:ln>
        </p:spPr>
      </p:pic>
      <p:sp>
        <p:nvSpPr>
          <p:cNvPr id="110" name="Text 13"/>
          <p:cNvSpPr txBox="1"/>
          <p:nvPr/>
        </p:nvSpPr>
        <p:spPr>
          <a:xfrm>
            <a:off x="5440679" y="3229609"/>
            <a:ext cx="29260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Personal Assistant</a:t>
            </a:r>
          </a:p>
        </p:txBody>
      </p:sp>
      <p:sp>
        <p:nvSpPr>
          <p:cNvPr id="111" name="Text 14"/>
          <p:cNvSpPr txBox="1"/>
          <p:nvPr/>
        </p:nvSpPr>
        <p:spPr>
          <a:xfrm>
            <a:off x="5486399" y="3631649"/>
            <a:ext cx="283464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Schedule, research, summarize, draft. Your AI-powered chief of staff.</a:t>
            </a:r>
          </a:p>
        </p:txBody>
      </p:sp>
      <p:sp>
        <p:nvSpPr>
          <p:cNvPr id="112" name="Shape 15"/>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113" name="Text 16"/>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6 / 21</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115" name="Shape 0"/>
          <p:cNvSpPr/>
          <p:nvPr/>
        </p:nvSpPr>
        <p:spPr>
          <a:xfrm>
            <a:off x="548640" y="320040"/>
            <a:ext cx="1828801" cy="292609"/>
          </a:xfrm>
          <a:prstGeom prst="rect">
            <a:avLst/>
          </a:prstGeom>
          <a:solidFill>
            <a:srgbClr val="E63946"/>
          </a:solidFill>
          <a:ln w="12700">
            <a:miter lim="400000"/>
          </a:ln>
        </p:spPr>
        <p:txBody>
          <a:bodyPr lIns="45719" rIns="45719"/>
          <a:lstStyle/>
          <a:p>
            <a:pPr/>
          </a:p>
        </p:txBody>
      </p:sp>
      <p:sp>
        <p:nvSpPr>
          <p:cNvPr id="116" name="Text 1"/>
          <p:cNvSpPr txBox="1"/>
          <p:nvPr/>
        </p:nvSpPr>
        <p:spPr>
          <a:xfrm>
            <a:off x="594360" y="352088"/>
            <a:ext cx="17373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DISRUPTION</a:t>
            </a:r>
          </a:p>
        </p:txBody>
      </p:sp>
      <p:sp>
        <p:nvSpPr>
          <p:cNvPr id="117"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DeepSeek: The $1 Trillion Wake-Up Call</a:t>
            </a:r>
          </a:p>
        </p:txBody>
      </p:sp>
      <p:sp>
        <p:nvSpPr>
          <p:cNvPr id="118" name="Shape 3"/>
          <p:cNvSpPr/>
          <p:nvPr/>
        </p:nvSpPr>
        <p:spPr>
          <a:xfrm>
            <a:off x="548639" y="1554479"/>
            <a:ext cx="2560322"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19" name="Text 4"/>
          <p:cNvSpPr txBox="1"/>
          <p:nvPr/>
        </p:nvSpPr>
        <p:spPr>
          <a:xfrm>
            <a:off x="594359" y="1705610"/>
            <a:ext cx="2468882"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E63946"/>
                </a:solidFill>
                <a:latin typeface="Georgia"/>
                <a:ea typeface="Georgia"/>
                <a:cs typeface="Georgia"/>
                <a:sym typeface="Georgia"/>
              </a:defRPr>
            </a:lvl1pPr>
          </a:lstStyle>
          <a:p>
            <a:pPr/>
            <a:r>
              <a:t>$589B</a:t>
            </a:r>
          </a:p>
        </p:txBody>
      </p:sp>
      <p:sp>
        <p:nvSpPr>
          <p:cNvPr id="120" name="Text 5"/>
          <p:cNvSpPr txBox="1"/>
          <p:nvPr/>
        </p:nvSpPr>
        <p:spPr>
          <a:xfrm>
            <a:off x="594359" y="2331720"/>
            <a:ext cx="2468882"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Nvidia market cap</a:t>
            </a:r>
          </a:p>
          <a:p>
            <a:pPr algn="ctr">
              <a:defRPr sz="1100">
                <a:solidFill>
                  <a:srgbClr val="5A6E80"/>
                </a:solidFill>
              </a:defRPr>
            </a:pPr>
            <a:r>
              <a:t>lost in ONE day</a:t>
            </a:r>
          </a:p>
        </p:txBody>
      </p:sp>
      <p:sp>
        <p:nvSpPr>
          <p:cNvPr id="121" name="Shape 6"/>
          <p:cNvSpPr/>
          <p:nvPr/>
        </p:nvSpPr>
        <p:spPr>
          <a:xfrm>
            <a:off x="3383279" y="1554479"/>
            <a:ext cx="2560321"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22" name="Text 7"/>
          <p:cNvSpPr txBox="1"/>
          <p:nvPr/>
        </p:nvSpPr>
        <p:spPr>
          <a:xfrm>
            <a:off x="3428999" y="1705610"/>
            <a:ext cx="2468881"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1C7293"/>
                </a:solidFill>
                <a:latin typeface="Georgia"/>
                <a:ea typeface="Georgia"/>
                <a:cs typeface="Georgia"/>
                <a:sym typeface="Georgia"/>
              </a:defRPr>
            </a:lvl1pPr>
          </a:lstStyle>
          <a:p>
            <a:pPr/>
            <a:r>
              <a:t>$5.6M</a:t>
            </a:r>
          </a:p>
        </p:txBody>
      </p:sp>
      <p:sp>
        <p:nvSpPr>
          <p:cNvPr id="123" name="Text 8"/>
          <p:cNvSpPr txBox="1"/>
          <p:nvPr/>
        </p:nvSpPr>
        <p:spPr>
          <a:xfrm>
            <a:off x="3428999" y="2331720"/>
            <a:ext cx="2468881"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DeepSeek R1</a:t>
            </a:r>
          </a:p>
          <a:p>
            <a:pPr algn="ctr">
              <a:defRPr sz="1100">
                <a:solidFill>
                  <a:srgbClr val="5A6E80"/>
                </a:solidFill>
              </a:defRPr>
            </a:pPr>
            <a:r>
              <a:t>training cost</a:t>
            </a:r>
          </a:p>
        </p:txBody>
      </p:sp>
      <p:sp>
        <p:nvSpPr>
          <p:cNvPr id="124" name="Shape 9"/>
          <p:cNvSpPr/>
          <p:nvPr/>
        </p:nvSpPr>
        <p:spPr>
          <a:xfrm>
            <a:off x="6217920" y="1554479"/>
            <a:ext cx="2560321"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25" name="Text 10"/>
          <p:cNvSpPr txBox="1"/>
          <p:nvPr/>
        </p:nvSpPr>
        <p:spPr>
          <a:xfrm>
            <a:off x="6263640" y="1705610"/>
            <a:ext cx="2468881"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065A82"/>
                </a:solidFill>
                <a:latin typeface="Georgia"/>
                <a:ea typeface="Georgia"/>
                <a:cs typeface="Georgia"/>
                <a:sym typeface="Georgia"/>
              </a:defRPr>
            </a:lvl1pPr>
          </a:lstStyle>
          <a:p>
            <a:pPr/>
            <a:r>
              <a:t>3.1%</a:t>
            </a:r>
          </a:p>
        </p:txBody>
      </p:sp>
      <p:sp>
        <p:nvSpPr>
          <p:cNvPr id="126" name="Text 11"/>
          <p:cNvSpPr txBox="1"/>
          <p:nvPr/>
        </p:nvSpPr>
        <p:spPr>
          <a:xfrm>
            <a:off x="6263640" y="2331720"/>
            <a:ext cx="2468881"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Nasdaq single-day</a:t>
            </a:r>
          </a:p>
          <a:p>
            <a:pPr algn="ctr">
              <a:defRPr sz="1100">
                <a:solidFill>
                  <a:srgbClr val="5A6E80"/>
                </a:solidFill>
              </a:defRPr>
            </a:pPr>
            <a:r>
              <a:t>drop</a:t>
            </a:r>
          </a:p>
        </p:txBody>
      </p:sp>
      <p:sp>
        <p:nvSpPr>
          <p:cNvPr id="127" name="Shape 12"/>
          <p:cNvSpPr/>
          <p:nvPr/>
        </p:nvSpPr>
        <p:spPr>
          <a:xfrm>
            <a:off x="548640" y="3291840"/>
            <a:ext cx="8229601" cy="118872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128" name="Image 0" descr="Image 0"/>
          <p:cNvPicPr>
            <a:picLocks noChangeAspect="1"/>
          </p:cNvPicPr>
          <p:nvPr/>
        </p:nvPicPr>
        <p:blipFill>
          <a:blip r:embed="rId2">
            <a:extLst/>
          </a:blip>
          <a:stretch>
            <a:fillRect/>
          </a:stretch>
        </p:blipFill>
        <p:spPr>
          <a:xfrm>
            <a:off x="822960" y="3474720"/>
            <a:ext cx="320041" cy="320041"/>
          </a:xfrm>
          <a:prstGeom prst="rect">
            <a:avLst/>
          </a:prstGeom>
          <a:ln w="12700">
            <a:miter lim="400000"/>
          </a:ln>
        </p:spPr>
      </p:pic>
      <p:sp>
        <p:nvSpPr>
          <p:cNvPr id="129" name="Text 13"/>
          <p:cNvSpPr txBox="1"/>
          <p:nvPr/>
        </p:nvSpPr>
        <p:spPr>
          <a:xfrm>
            <a:off x="1280160" y="3533140"/>
            <a:ext cx="2743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What happened?</a:t>
            </a:r>
          </a:p>
        </p:txBody>
      </p:sp>
      <p:sp>
        <p:nvSpPr>
          <p:cNvPr id="130" name="Text 14"/>
          <p:cNvSpPr txBox="1"/>
          <p:nvPr/>
        </p:nvSpPr>
        <p:spPr>
          <a:xfrm>
            <a:off x="868680" y="3905969"/>
            <a:ext cx="7589520"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January 27, 2025: Chinese startup DeepSeek released R1, matching OpenAI's o1 reasoning model at a fraction of the cost. Trained for ~$5.6M vs. hundreds of millions. The message: AI disruption doesn't just come from Silicon Valley anymore.</a:t>
            </a:r>
          </a:p>
        </p:txBody>
      </p:sp>
      <p:sp>
        <p:nvSpPr>
          <p:cNvPr id="131" name="Shape 15"/>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132" name="Text 16"/>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7 / 21</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134" name="Shape 0"/>
          <p:cNvSpPr/>
          <p:nvPr/>
        </p:nvSpPr>
        <p:spPr>
          <a:xfrm>
            <a:off x="548640" y="320040"/>
            <a:ext cx="1828801" cy="292609"/>
          </a:xfrm>
          <a:prstGeom prst="rect">
            <a:avLst/>
          </a:prstGeom>
          <a:solidFill>
            <a:srgbClr val="E63946"/>
          </a:solidFill>
          <a:ln w="12700">
            <a:miter lim="400000"/>
          </a:ln>
        </p:spPr>
        <p:txBody>
          <a:bodyPr lIns="45719" rIns="45719"/>
          <a:lstStyle/>
          <a:p>
            <a:pPr/>
          </a:p>
        </p:txBody>
      </p:sp>
      <p:sp>
        <p:nvSpPr>
          <p:cNvPr id="135" name="Text 1"/>
          <p:cNvSpPr txBox="1"/>
          <p:nvPr/>
        </p:nvSpPr>
        <p:spPr>
          <a:xfrm>
            <a:off x="594360" y="352088"/>
            <a:ext cx="17373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DISRUPTION</a:t>
            </a:r>
          </a:p>
        </p:txBody>
      </p:sp>
      <p:sp>
        <p:nvSpPr>
          <p:cNvPr id="136"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OpenClaw: The SaaS Apocalypse</a:t>
            </a:r>
          </a:p>
        </p:txBody>
      </p:sp>
      <p:sp>
        <p:nvSpPr>
          <p:cNvPr id="137" name="Shape 3"/>
          <p:cNvSpPr/>
          <p:nvPr/>
        </p:nvSpPr>
        <p:spPr>
          <a:xfrm>
            <a:off x="548639" y="1554479"/>
            <a:ext cx="2560322"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38" name="Text 4"/>
          <p:cNvSpPr txBox="1"/>
          <p:nvPr/>
        </p:nvSpPr>
        <p:spPr>
          <a:xfrm>
            <a:off x="594359" y="1705610"/>
            <a:ext cx="2468882"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1C7293"/>
                </a:solidFill>
                <a:latin typeface="Georgia"/>
                <a:ea typeface="Georgia"/>
                <a:cs typeface="Georgia"/>
                <a:sym typeface="Georgia"/>
              </a:defRPr>
            </a:lvl1pPr>
          </a:lstStyle>
          <a:p>
            <a:pPr/>
            <a:r>
              <a:t>250K+</a:t>
            </a:r>
          </a:p>
        </p:txBody>
      </p:sp>
      <p:sp>
        <p:nvSpPr>
          <p:cNvPr id="139" name="Text 5"/>
          <p:cNvSpPr txBox="1"/>
          <p:nvPr/>
        </p:nvSpPr>
        <p:spPr>
          <a:xfrm>
            <a:off x="594359" y="2331720"/>
            <a:ext cx="2468882"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GitHub stars</a:t>
            </a:r>
          </a:p>
          <a:p>
            <a:pPr algn="ctr">
              <a:defRPr sz="1100">
                <a:solidFill>
                  <a:srgbClr val="5A6E80"/>
                </a:solidFill>
              </a:defRPr>
            </a:pPr>
            <a:r>
              <a:t>(surpassed React)</a:t>
            </a:r>
          </a:p>
        </p:txBody>
      </p:sp>
      <p:sp>
        <p:nvSpPr>
          <p:cNvPr id="140" name="Shape 6"/>
          <p:cNvSpPr/>
          <p:nvPr/>
        </p:nvSpPr>
        <p:spPr>
          <a:xfrm>
            <a:off x="3383279" y="1554479"/>
            <a:ext cx="2560321"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41" name="Text 7"/>
          <p:cNvSpPr txBox="1"/>
          <p:nvPr/>
        </p:nvSpPr>
        <p:spPr>
          <a:xfrm>
            <a:off x="3428999" y="1705610"/>
            <a:ext cx="2468881"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00B4D8"/>
                </a:solidFill>
                <a:latin typeface="Georgia"/>
                <a:ea typeface="Georgia"/>
                <a:cs typeface="Georgia"/>
                <a:sym typeface="Georgia"/>
              </a:defRPr>
            </a:lvl1pPr>
          </a:lstStyle>
          <a:p>
            <a:pPr/>
            <a:r>
              <a:t>60K</a:t>
            </a:r>
          </a:p>
        </p:txBody>
      </p:sp>
      <p:sp>
        <p:nvSpPr>
          <p:cNvPr id="142" name="Text 8"/>
          <p:cNvSpPr txBox="1"/>
          <p:nvPr/>
        </p:nvSpPr>
        <p:spPr>
          <a:xfrm>
            <a:off x="3428999" y="2331720"/>
            <a:ext cx="2468881"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Stars in first</a:t>
            </a:r>
          </a:p>
          <a:p>
            <a:pPr algn="ctr">
              <a:defRPr sz="1100">
                <a:solidFill>
                  <a:srgbClr val="5A6E80"/>
                </a:solidFill>
              </a:defRPr>
            </a:pPr>
            <a:r>
              <a:t>72 hours</a:t>
            </a:r>
          </a:p>
        </p:txBody>
      </p:sp>
      <p:sp>
        <p:nvSpPr>
          <p:cNvPr id="143" name="Shape 9"/>
          <p:cNvSpPr/>
          <p:nvPr/>
        </p:nvSpPr>
        <p:spPr>
          <a:xfrm>
            <a:off x="6217920" y="1554479"/>
            <a:ext cx="2560321" cy="146304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44" name="Text 10"/>
          <p:cNvSpPr txBox="1"/>
          <p:nvPr/>
        </p:nvSpPr>
        <p:spPr>
          <a:xfrm>
            <a:off x="6263640" y="1705610"/>
            <a:ext cx="2468881" cy="612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F9A825"/>
                </a:solidFill>
                <a:latin typeface="Georgia"/>
                <a:ea typeface="Georgia"/>
                <a:cs typeface="Georgia"/>
                <a:sym typeface="Georgia"/>
              </a:defRPr>
            </a:lvl1pPr>
          </a:lstStyle>
          <a:p>
            <a:pPr/>
            <a:r>
              <a:t>#1</a:t>
            </a:r>
          </a:p>
        </p:txBody>
      </p:sp>
      <p:sp>
        <p:nvSpPr>
          <p:cNvPr id="145" name="Text 11"/>
          <p:cNvSpPr txBox="1"/>
          <p:nvPr/>
        </p:nvSpPr>
        <p:spPr>
          <a:xfrm>
            <a:off x="6263640" y="2331720"/>
            <a:ext cx="2468881"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100">
                <a:solidFill>
                  <a:srgbClr val="5A6E80"/>
                </a:solidFill>
              </a:defRPr>
            </a:pPr>
            <a:r>
              <a:t>Most-starred repo</a:t>
            </a:r>
          </a:p>
          <a:p>
            <a:pPr algn="ctr">
              <a:defRPr sz="1100">
                <a:solidFill>
                  <a:srgbClr val="5A6E80"/>
                </a:solidFill>
              </a:defRPr>
            </a:pPr>
            <a:r>
              <a:t>on GitHub</a:t>
            </a:r>
          </a:p>
        </p:txBody>
      </p:sp>
      <p:sp>
        <p:nvSpPr>
          <p:cNvPr id="146" name="Shape 12"/>
          <p:cNvSpPr/>
          <p:nvPr/>
        </p:nvSpPr>
        <p:spPr>
          <a:xfrm>
            <a:off x="548640" y="3291840"/>
            <a:ext cx="8229601" cy="118872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147" name="Image 0" descr="Image 0"/>
          <p:cNvPicPr>
            <a:picLocks noChangeAspect="1"/>
          </p:cNvPicPr>
          <p:nvPr/>
        </p:nvPicPr>
        <p:blipFill>
          <a:blip r:embed="rId2">
            <a:extLst/>
          </a:blip>
          <a:stretch>
            <a:fillRect/>
          </a:stretch>
        </p:blipFill>
        <p:spPr>
          <a:xfrm>
            <a:off x="822960" y="3474720"/>
            <a:ext cx="320041" cy="320041"/>
          </a:xfrm>
          <a:prstGeom prst="rect">
            <a:avLst/>
          </a:prstGeom>
          <a:ln w="12700">
            <a:miter lim="400000"/>
          </a:ln>
        </p:spPr>
      </p:pic>
      <p:sp>
        <p:nvSpPr>
          <p:cNvPr id="148" name="Text 13"/>
          <p:cNvSpPr txBox="1"/>
          <p:nvPr/>
        </p:nvSpPr>
        <p:spPr>
          <a:xfrm>
            <a:off x="1280160" y="3533140"/>
            <a:ext cx="2743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9A825"/>
                </a:solidFill>
                <a:latin typeface="Georgia"/>
                <a:ea typeface="Georgia"/>
                <a:cs typeface="Georgia"/>
                <a:sym typeface="Georgia"/>
              </a:defRPr>
            </a:lvl1pPr>
          </a:lstStyle>
          <a:p>
            <a:pPr/>
            <a:r>
              <a:t>The SaaSpocalypse</a:t>
            </a:r>
          </a:p>
        </p:txBody>
      </p:sp>
      <p:sp>
        <p:nvSpPr>
          <p:cNvPr id="149" name="Text 14"/>
          <p:cNvSpPr txBox="1"/>
          <p:nvPr/>
        </p:nvSpPr>
        <p:spPr>
          <a:xfrm>
            <a:off x="868680" y="3809992"/>
            <a:ext cx="7589520" cy="60961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Open-source AI agent framework that automates workflows across digital tools. Executes shell commands, browses web, sends emails, manages calendars. Traditional SaaS products face existential threat as AI agents replace entire software categories. Creator joined OpenAI Feb 2026.</a:t>
            </a:r>
          </a:p>
        </p:txBody>
      </p:sp>
      <p:sp>
        <p:nvSpPr>
          <p:cNvPr id="150" name="Shape 15"/>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151" name="Text 16"/>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8 / 21</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153" name="Shape 0"/>
          <p:cNvSpPr/>
          <p:nvPr/>
        </p:nvSpPr>
        <p:spPr>
          <a:xfrm>
            <a:off x="548640" y="320040"/>
            <a:ext cx="2011679" cy="292609"/>
          </a:xfrm>
          <a:prstGeom prst="rect">
            <a:avLst/>
          </a:prstGeom>
          <a:solidFill>
            <a:srgbClr val="065A82"/>
          </a:solidFill>
          <a:ln w="12700">
            <a:miter lim="400000"/>
          </a:ln>
        </p:spPr>
        <p:txBody>
          <a:bodyPr lIns="45719" rIns="45719"/>
          <a:lstStyle/>
          <a:p>
            <a:pPr/>
          </a:p>
        </p:txBody>
      </p:sp>
      <p:sp>
        <p:nvSpPr>
          <p:cNvPr id="154" name="Text 1"/>
          <p:cNvSpPr txBox="1"/>
          <p:nvPr/>
        </p:nvSpPr>
        <p:spPr>
          <a:xfrm>
            <a:off x="594360" y="352088"/>
            <a:ext cx="192023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SOTA MODELS</a:t>
            </a:r>
          </a:p>
        </p:txBody>
      </p:sp>
      <p:sp>
        <p:nvSpPr>
          <p:cNvPr id="155"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Leading Models: 2026 Leaderboard</a:t>
            </a:r>
          </a:p>
        </p:txBody>
      </p:sp>
      <p:graphicFrame>
        <p:nvGraphicFramePr>
          <p:cNvPr id="156" name="Table 0"/>
          <p:cNvGraphicFramePr/>
          <p:nvPr/>
        </p:nvGraphicFramePr>
        <p:xfrm>
          <a:off x="548640" y="1463039"/>
          <a:ext cx="7955280" cy="210312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11679"/>
                <a:gridCol w="1188720"/>
                <a:gridCol w="1188720"/>
                <a:gridCol w="1188720"/>
                <a:gridCol w="1188720"/>
                <a:gridCol w="1188720"/>
              </a:tblGrid>
              <a:tr h="365760">
                <a:tc>
                  <a:txBody>
                    <a:bodyPr/>
                    <a:lstStyle/>
                    <a:p>
                      <a:pPr algn="l">
                        <a:defRPr sz="1800"/>
                      </a:pPr>
                      <a:r>
                        <a:rPr b="1" sz="1100">
                          <a:solidFill>
                            <a:srgbClr val="FFFFFF"/>
                          </a:solidFill>
                        </a:rPr>
                        <a:t>Model</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Type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SWE-bench</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HumanEval</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GPQA</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HLE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r>
              <a:tr h="347472">
                <a:tc>
                  <a:txBody>
                    <a:bodyPr/>
                    <a:lstStyle/>
                    <a:p>
                      <a:pPr algn="l">
                        <a:defRPr sz="1800"/>
                      </a:pPr>
                      <a:r>
                        <a:rPr b="1" sz="1100">
                          <a:solidFill>
                            <a:srgbClr val="1A1A2E"/>
                          </a:solidFill>
                        </a:rPr>
                        <a:t>Claude Opus 4.6</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Proprietary</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80.8%</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92.0%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89.5%</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35.2%</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r h="347472">
                <a:tc>
                  <a:txBody>
                    <a:bodyPr/>
                    <a:lstStyle/>
                    <a:p>
                      <a:pPr algn="l">
                        <a:defRPr sz="1800"/>
                      </a:pPr>
                      <a:r>
                        <a:rPr b="1" sz="1100">
                          <a:solidFill>
                            <a:srgbClr val="1A1A2E"/>
                          </a:solidFill>
                        </a:rPr>
                        <a:t>GPT-5.4</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Proprietary</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75.1%</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91.0%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92.0%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41.6%</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r>
              <a:tr h="347472">
                <a:tc>
                  <a:txBody>
                    <a:bodyPr/>
                    <a:lstStyle/>
                    <a:p>
                      <a:pPr algn="l">
                        <a:defRPr sz="1800"/>
                      </a:pPr>
                      <a:r>
                        <a:rPr b="1" sz="1100">
                          <a:solidFill>
                            <a:srgbClr val="1A1A2E"/>
                          </a:solidFill>
                        </a:rPr>
                        <a:t>Gemini 3 Pro</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Proprietary</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71.2%</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89.5%</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90.8%</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37.2%</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r h="347472">
                <a:tc>
                  <a:txBody>
                    <a:bodyPr/>
                    <a:lstStyle/>
                    <a:p>
                      <a:pPr algn="l">
                        <a:defRPr sz="1800"/>
                      </a:pPr>
                      <a:r>
                        <a:rPr b="1" sz="1100">
                          <a:solidFill>
                            <a:srgbClr val="1A1A2E"/>
                          </a:solidFill>
                        </a:rPr>
                        <a:t>Kimi K2.5</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Open Source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68.5%</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99.0%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87.6%</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r>
              <a:tr h="347472">
                <a:tc>
                  <a:txBody>
                    <a:bodyPr/>
                    <a:lstStyle/>
                    <a:p>
                      <a:pPr algn="l">
                        <a:defRPr sz="1800"/>
                      </a:pPr>
                      <a:r>
                        <a:rPr b="1" sz="1100">
                          <a:solidFill>
                            <a:srgbClr val="1A1A2E"/>
                          </a:solidFill>
                        </a:rPr>
                        <a:t>GLM-4.7</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Open Source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65.3%</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94.2%</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85.7%</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bl>
          </a:graphicData>
        </a:graphic>
      </p:graphicFrame>
      <p:sp>
        <p:nvSpPr>
          <p:cNvPr id="157" name="Text 3"/>
          <p:cNvSpPr txBox="1"/>
          <p:nvPr/>
        </p:nvSpPr>
        <p:spPr>
          <a:xfrm>
            <a:off x="594360" y="3874683"/>
            <a:ext cx="72237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1A1A2E"/>
                </a:solidFill>
              </a:defRPr>
            </a:lvl1pPr>
          </a:lstStyle>
          <a:p>
            <a:pPr/>
            <a:r>
              <a:t>Source: Aggregated from LLM-Stats, PricePerToken, and Vellum Leaderboards (March 2026)</a:t>
            </a:r>
          </a:p>
        </p:txBody>
      </p:sp>
      <p:sp>
        <p:nvSpPr>
          <p:cNvPr id="158" name="Shape 4"/>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159" name="Text 5"/>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9 / 21</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161" name="Shape 0"/>
          <p:cNvSpPr/>
          <p:nvPr/>
        </p:nvSpPr>
        <p:spPr>
          <a:xfrm>
            <a:off x="548640" y="320040"/>
            <a:ext cx="2011679" cy="292609"/>
          </a:xfrm>
          <a:prstGeom prst="rect">
            <a:avLst/>
          </a:prstGeom>
          <a:solidFill>
            <a:srgbClr val="065A82"/>
          </a:solidFill>
          <a:ln w="12700">
            <a:miter lim="400000"/>
          </a:ln>
        </p:spPr>
        <p:txBody>
          <a:bodyPr lIns="45719" rIns="45719"/>
          <a:lstStyle/>
          <a:p>
            <a:pPr/>
          </a:p>
        </p:txBody>
      </p:sp>
      <p:sp>
        <p:nvSpPr>
          <p:cNvPr id="162" name="Text 1"/>
          <p:cNvSpPr txBox="1"/>
          <p:nvPr/>
        </p:nvSpPr>
        <p:spPr>
          <a:xfrm>
            <a:off x="594360" y="352088"/>
            <a:ext cx="192023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HARDWARE</a:t>
            </a:r>
          </a:p>
        </p:txBody>
      </p:sp>
      <p:sp>
        <p:nvSpPr>
          <p:cNvPr id="163"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The GPU Race: Powering LLM Inference</a:t>
            </a:r>
          </a:p>
        </p:txBody>
      </p:sp>
      <p:sp>
        <p:nvSpPr>
          <p:cNvPr id="164" name="Shape 3"/>
          <p:cNvSpPr/>
          <p:nvPr/>
        </p:nvSpPr>
        <p:spPr>
          <a:xfrm>
            <a:off x="548639" y="1554480"/>
            <a:ext cx="2560322" cy="2377440"/>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65" name="Shape 4"/>
          <p:cNvSpPr/>
          <p:nvPr/>
        </p:nvSpPr>
        <p:spPr>
          <a:xfrm>
            <a:off x="548639" y="1554480"/>
            <a:ext cx="2560322" cy="457201"/>
          </a:xfrm>
          <a:prstGeom prst="rect">
            <a:avLst/>
          </a:prstGeom>
          <a:solidFill>
            <a:srgbClr val="5A6E80"/>
          </a:solidFill>
          <a:ln w="12700">
            <a:miter lim="400000"/>
          </a:ln>
        </p:spPr>
        <p:txBody>
          <a:bodyPr lIns="45719" rIns="45719"/>
          <a:lstStyle/>
          <a:p>
            <a:pPr/>
          </a:p>
        </p:txBody>
      </p:sp>
      <p:sp>
        <p:nvSpPr>
          <p:cNvPr id="166" name="Text 5"/>
          <p:cNvSpPr txBox="1"/>
          <p:nvPr/>
        </p:nvSpPr>
        <p:spPr>
          <a:xfrm>
            <a:off x="594359" y="1604010"/>
            <a:ext cx="246888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latin typeface="Georgia"/>
                <a:ea typeface="Georgia"/>
                <a:cs typeface="Georgia"/>
                <a:sym typeface="Georgia"/>
              </a:defRPr>
            </a:lvl1pPr>
          </a:lstStyle>
          <a:p>
            <a:pPr/>
            <a:r>
              <a:t>H100</a:t>
            </a:r>
          </a:p>
        </p:txBody>
      </p:sp>
      <p:pic>
        <p:nvPicPr>
          <p:cNvPr id="167" name="Image 0" descr="Image 0"/>
          <p:cNvPicPr>
            <a:picLocks noChangeAspect="1"/>
          </p:cNvPicPr>
          <p:nvPr/>
        </p:nvPicPr>
        <p:blipFill>
          <a:blip r:embed="rId2">
            <a:extLst/>
          </a:blip>
          <a:stretch>
            <a:fillRect/>
          </a:stretch>
        </p:blipFill>
        <p:spPr>
          <a:xfrm>
            <a:off x="1554480" y="2148839"/>
            <a:ext cx="457201" cy="457201"/>
          </a:xfrm>
          <a:prstGeom prst="rect">
            <a:avLst/>
          </a:prstGeom>
          <a:ln w="12700">
            <a:miter lim="400000"/>
          </a:ln>
        </p:spPr>
      </p:pic>
      <p:sp>
        <p:nvSpPr>
          <p:cNvPr id="168" name="Text 6"/>
          <p:cNvSpPr txBox="1"/>
          <p:nvPr/>
        </p:nvSpPr>
        <p:spPr>
          <a:xfrm>
            <a:off x="777239" y="276750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Memory: </a:t>
            </a:r>
            <a:r>
              <a:rPr b="0">
                <a:solidFill>
                  <a:srgbClr val="1A1A2E"/>
                </a:solidFill>
              </a:rPr>
              <a:t>80 GB HBM3</a:t>
            </a:r>
          </a:p>
        </p:txBody>
      </p:sp>
      <p:sp>
        <p:nvSpPr>
          <p:cNvPr id="169" name="Text 7"/>
          <p:cNvSpPr txBox="1"/>
          <p:nvPr/>
        </p:nvSpPr>
        <p:spPr>
          <a:xfrm>
            <a:off x="777239" y="308754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Bandwidth: </a:t>
            </a:r>
            <a:r>
              <a:rPr b="0">
                <a:solidFill>
                  <a:srgbClr val="1A1A2E"/>
                </a:solidFill>
              </a:rPr>
              <a:t>3.35 TB/s</a:t>
            </a:r>
          </a:p>
        </p:txBody>
      </p:sp>
      <p:sp>
        <p:nvSpPr>
          <p:cNvPr id="170" name="Text 8"/>
          <p:cNvSpPr txBox="1"/>
          <p:nvPr/>
        </p:nvSpPr>
        <p:spPr>
          <a:xfrm>
            <a:off x="777239" y="340758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vs H100: </a:t>
            </a:r>
            <a:r>
              <a:rPr b="0">
                <a:solidFill>
                  <a:srgbClr val="1A1A2E"/>
                </a:solidFill>
              </a:rPr>
              <a:t>Baseline</a:t>
            </a:r>
          </a:p>
        </p:txBody>
      </p:sp>
      <p:sp>
        <p:nvSpPr>
          <p:cNvPr id="171" name="Shape 9"/>
          <p:cNvSpPr/>
          <p:nvPr/>
        </p:nvSpPr>
        <p:spPr>
          <a:xfrm>
            <a:off x="3383279" y="1554480"/>
            <a:ext cx="2560321" cy="2377440"/>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72" name="Shape 10"/>
          <p:cNvSpPr/>
          <p:nvPr/>
        </p:nvSpPr>
        <p:spPr>
          <a:xfrm>
            <a:off x="3383279" y="1554480"/>
            <a:ext cx="2560321" cy="457201"/>
          </a:xfrm>
          <a:prstGeom prst="rect">
            <a:avLst/>
          </a:prstGeom>
          <a:solidFill>
            <a:srgbClr val="1C7293"/>
          </a:solidFill>
          <a:ln w="12700">
            <a:miter lim="400000"/>
          </a:ln>
        </p:spPr>
        <p:txBody>
          <a:bodyPr lIns="45719" rIns="45719"/>
          <a:lstStyle/>
          <a:p>
            <a:pPr/>
          </a:p>
        </p:txBody>
      </p:sp>
      <p:sp>
        <p:nvSpPr>
          <p:cNvPr id="173" name="Text 11"/>
          <p:cNvSpPr txBox="1"/>
          <p:nvPr/>
        </p:nvSpPr>
        <p:spPr>
          <a:xfrm>
            <a:off x="3428999" y="1604010"/>
            <a:ext cx="246888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latin typeface="Georgia"/>
                <a:ea typeface="Georgia"/>
                <a:cs typeface="Georgia"/>
                <a:sym typeface="Georgia"/>
              </a:defRPr>
            </a:lvl1pPr>
          </a:lstStyle>
          <a:p>
            <a:pPr/>
            <a:r>
              <a:t>H200</a:t>
            </a:r>
          </a:p>
        </p:txBody>
      </p:sp>
      <p:pic>
        <p:nvPicPr>
          <p:cNvPr id="174" name="Image 1" descr="Image 1"/>
          <p:cNvPicPr>
            <a:picLocks noChangeAspect="1"/>
          </p:cNvPicPr>
          <p:nvPr/>
        </p:nvPicPr>
        <p:blipFill>
          <a:blip r:embed="rId2">
            <a:extLst/>
          </a:blip>
          <a:stretch>
            <a:fillRect/>
          </a:stretch>
        </p:blipFill>
        <p:spPr>
          <a:xfrm>
            <a:off x="4389120" y="2148839"/>
            <a:ext cx="457201" cy="457201"/>
          </a:xfrm>
          <a:prstGeom prst="rect">
            <a:avLst/>
          </a:prstGeom>
          <a:ln w="12700">
            <a:miter lim="400000"/>
          </a:ln>
        </p:spPr>
      </p:pic>
      <p:sp>
        <p:nvSpPr>
          <p:cNvPr id="175" name="Text 12"/>
          <p:cNvSpPr txBox="1"/>
          <p:nvPr/>
        </p:nvSpPr>
        <p:spPr>
          <a:xfrm>
            <a:off x="3611879" y="2767506"/>
            <a:ext cx="21031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Memory: </a:t>
            </a:r>
            <a:r>
              <a:rPr b="0">
                <a:solidFill>
                  <a:srgbClr val="1A1A2E"/>
                </a:solidFill>
              </a:rPr>
              <a:t>141 GB HBM3e</a:t>
            </a:r>
          </a:p>
        </p:txBody>
      </p:sp>
      <p:sp>
        <p:nvSpPr>
          <p:cNvPr id="176" name="Text 13"/>
          <p:cNvSpPr txBox="1"/>
          <p:nvPr/>
        </p:nvSpPr>
        <p:spPr>
          <a:xfrm>
            <a:off x="3611879" y="3087546"/>
            <a:ext cx="21031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Bandwidth: </a:t>
            </a:r>
            <a:r>
              <a:rPr b="0">
                <a:solidFill>
                  <a:srgbClr val="1A1A2E"/>
                </a:solidFill>
              </a:rPr>
              <a:t>4.8 TB/s</a:t>
            </a:r>
          </a:p>
        </p:txBody>
      </p:sp>
      <p:sp>
        <p:nvSpPr>
          <p:cNvPr id="177" name="Text 14"/>
          <p:cNvSpPr txBox="1"/>
          <p:nvPr/>
        </p:nvSpPr>
        <p:spPr>
          <a:xfrm>
            <a:off x="3611879" y="3407586"/>
            <a:ext cx="21031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vs H100: </a:t>
            </a:r>
            <a:r>
              <a:rPr b="0">
                <a:solidFill>
                  <a:srgbClr val="1A1A2E"/>
                </a:solidFill>
              </a:rPr>
              <a:t>2x inference</a:t>
            </a:r>
          </a:p>
        </p:txBody>
      </p:sp>
      <p:sp>
        <p:nvSpPr>
          <p:cNvPr id="178" name="Shape 15"/>
          <p:cNvSpPr/>
          <p:nvPr/>
        </p:nvSpPr>
        <p:spPr>
          <a:xfrm>
            <a:off x="6217920" y="1554480"/>
            <a:ext cx="2560321" cy="2377440"/>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179" name="Shape 16"/>
          <p:cNvSpPr/>
          <p:nvPr/>
        </p:nvSpPr>
        <p:spPr>
          <a:xfrm>
            <a:off x="6217920" y="1554480"/>
            <a:ext cx="2560321" cy="457201"/>
          </a:xfrm>
          <a:prstGeom prst="rect">
            <a:avLst/>
          </a:prstGeom>
          <a:solidFill>
            <a:srgbClr val="00B4D8"/>
          </a:solidFill>
          <a:ln w="12700">
            <a:miter lim="400000"/>
          </a:ln>
        </p:spPr>
        <p:txBody>
          <a:bodyPr lIns="45719" rIns="45719"/>
          <a:lstStyle/>
          <a:p>
            <a:pPr/>
          </a:p>
        </p:txBody>
      </p:sp>
      <p:sp>
        <p:nvSpPr>
          <p:cNvPr id="180" name="Text 17"/>
          <p:cNvSpPr txBox="1"/>
          <p:nvPr/>
        </p:nvSpPr>
        <p:spPr>
          <a:xfrm>
            <a:off x="6263640" y="1604010"/>
            <a:ext cx="246888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latin typeface="Georgia"/>
                <a:ea typeface="Georgia"/>
                <a:cs typeface="Georgia"/>
                <a:sym typeface="Georgia"/>
              </a:defRPr>
            </a:lvl1pPr>
          </a:lstStyle>
          <a:p>
            <a:pPr/>
            <a:r>
              <a:t>B200</a:t>
            </a:r>
          </a:p>
        </p:txBody>
      </p:sp>
      <p:pic>
        <p:nvPicPr>
          <p:cNvPr id="181" name="Image 2" descr="Image 2"/>
          <p:cNvPicPr>
            <a:picLocks noChangeAspect="1"/>
          </p:cNvPicPr>
          <p:nvPr/>
        </p:nvPicPr>
        <p:blipFill>
          <a:blip r:embed="rId2">
            <a:extLst/>
          </a:blip>
          <a:stretch>
            <a:fillRect/>
          </a:stretch>
        </p:blipFill>
        <p:spPr>
          <a:xfrm>
            <a:off x="7223759" y="2148839"/>
            <a:ext cx="457201" cy="457201"/>
          </a:xfrm>
          <a:prstGeom prst="rect">
            <a:avLst/>
          </a:prstGeom>
          <a:ln w="12700">
            <a:miter lim="400000"/>
          </a:ln>
        </p:spPr>
      </p:pic>
      <p:sp>
        <p:nvSpPr>
          <p:cNvPr id="182" name="Text 18"/>
          <p:cNvSpPr txBox="1"/>
          <p:nvPr/>
        </p:nvSpPr>
        <p:spPr>
          <a:xfrm>
            <a:off x="6446519" y="276750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Memory: </a:t>
            </a:r>
            <a:r>
              <a:rPr b="0">
                <a:solidFill>
                  <a:srgbClr val="1A1A2E"/>
                </a:solidFill>
              </a:rPr>
              <a:t>192 GB HBM3e</a:t>
            </a:r>
          </a:p>
        </p:txBody>
      </p:sp>
      <p:sp>
        <p:nvSpPr>
          <p:cNvPr id="183" name="Text 19"/>
          <p:cNvSpPr txBox="1"/>
          <p:nvPr/>
        </p:nvSpPr>
        <p:spPr>
          <a:xfrm>
            <a:off x="6446519" y="308754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Bandwidth: </a:t>
            </a:r>
            <a:r>
              <a:rPr b="0">
                <a:solidFill>
                  <a:srgbClr val="1A1A2E"/>
                </a:solidFill>
              </a:rPr>
              <a:t>8 TB/s</a:t>
            </a:r>
          </a:p>
        </p:txBody>
      </p:sp>
      <p:sp>
        <p:nvSpPr>
          <p:cNvPr id="184" name="Text 20"/>
          <p:cNvSpPr txBox="1"/>
          <p:nvPr/>
        </p:nvSpPr>
        <p:spPr>
          <a:xfrm>
            <a:off x="6446519" y="3407586"/>
            <a:ext cx="21031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5A6E80"/>
                </a:solidFill>
              </a:defRPr>
            </a:pPr>
            <a:r>
              <a:t>vs H100: </a:t>
            </a:r>
            <a:r>
              <a:rPr b="0">
                <a:solidFill>
                  <a:srgbClr val="1A1A2E"/>
                </a:solidFill>
              </a:rPr>
              <a:t>5x inference</a:t>
            </a:r>
          </a:p>
        </p:txBody>
      </p:sp>
      <p:sp>
        <p:nvSpPr>
          <p:cNvPr id="185" name="Shape 21"/>
          <p:cNvSpPr/>
          <p:nvPr/>
        </p:nvSpPr>
        <p:spPr>
          <a:xfrm>
            <a:off x="548640" y="4160520"/>
            <a:ext cx="8229601" cy="411481"/>
          </a:xfrm>
          <a:prstGeom prst="rect">
            <a:avLst/>
          </a:prstGeom>
          <a:solidFill>
            <a:srgbClr val="065A82"/>
          </a:solidFill>
          <a:ln w="12700">
            <a:miter lim="400000"/>
          </a:ln>
        </p:spPr>
        <p:txBody>
          <a:bodyPr lIns="45719" rIns="45719"/>
          <a:lstStyle/>
          <a:p>
            <a:pPr/>
          </a:p>
        </p:txBody>
      </p:sp>
      <p:sp>
        <p:nvSpPr>
          <p:cNvPr id="186" name="Text 22"/>
          <p:cNvSpPr txBox="1"/>
          <p:nvPr/>
        </p:nvSpPr>
        <p:spPr>
          <a:xfrm>
            <a:off x="594360" y="4237159"/>
            <a:ext cx="813816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B200 delivers ~3x lower cost-per-token than H200 in FP4 optimized serving</a:t>
            </a:r>
          </a:p>
        </p:txBody>
      </p:sp>
      <p:sp>
        <p:nvSpPr>
          <p:cNvPr id="187" name="Shape 23"/>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188" name="Text 24"/>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10 / 21</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190" name="Shape 0"/>
          <p:cNvSpPr/>
          <p:nvPr/>
        </p:nvSpPr>
        <p:spPr>
          <a:xfrm>
            <a:off x="548640" y="320040"/>
            <a:ext cx="2011679" cy="292609"/>
          </a:xfrm>
          <a:prstGeom prst="rect">
            <a:avLst/>
          </a:prstGeom>
          <a:solidFill>
            <a:srgbClr val="1C7293"/>
          </a:solidFill>
          <a:ln w="12700">
            <a:miter lim="400000"/>
          </a:ln>
        </p:spPr>
        <p:txBody>
          <a:bodyPr lIns="45719" rIns="45719"/>
          <a:lstStyle/>
          <a:p>
            <a:pPr/>
          </a:p>
        </p:txBody>
      </p:sp>
      <p:sp>
        <p:nvSpPr>
          <p:cNvPr id="191" name="Text 1"/>
          <p:cNvSpPr txBox="1"/>
          <p:nvPr/>
        </p:nvSpPr>
        <p:spPr>
          <a:xfrm>
            <a:off x="594360" y="352088"/>
            <a:ext cx="192023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CONTEXT</a:t>
            </a:r>
          </a:p>
        </p:txBody>
      </p:sp>
      <p:sp>
        <p:nvSpPr>
          <p:cNvPr id="192"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The Context Length Game</a:t>
            </a:r>
          </a:p>
        </p:txBody>
      </p:sp>
      <p:sp>
        <p:nvSpPr>
          <p:cNvPr id="193" name="Shape 3"/>
          <p:cNvSpPr/>
          <p:nvPr/>
        </p:nvSpPr>
        <p:spPr>
          <a:xfrm>
            <a:off x="914400" y="2286000"/>
            <a:ext cx="7315201" cy="0"/>
          </a:xfrm>
          <a:prstGeom prst="line">
            <a:avLst/>
          </a:prstGeom>
          <a:ln w="38100">
            <a:solidFill>
              <a:srgbClr val="1C7293"/>
            </a:solidFill>
          </a:ln>
        </p:spPr>
        <p:txBody>
          <a:bodyPr lIns="45719" rIns="45719"/>
          <a:lstStyle/>
          <a:p>
            <a:pPr/>
          </a:p>
        </p:txBody>
      </p:sp>
      <p:sp>
        <p:nvSpPr>
          <p:cNvPr id="194" name="Shape 4"/>
          <p:cNvSpPr/>
          <p:nvPr/>
        </p:nvSpPr>
        <p:spPr>
          <a:xfrm>
            <a:off x="777240" y="2148839"/>
            <a:ext cx="274321" cy="274321"/>
          </a:xfrm>
          <a:prstGeom prst="ellipse">
            <a:avLst/>
          </a:prstGeom>
          <a:solidFill>
            <a:srgbClr val="00B4D8"/>
          </a:solidFill>
          <a:ln w="12700">
            <a:miter lim="400000"/>
          </a:ln>
        </p:spPr>
        <p:txBody>
          <a:bodyPr lIns="45719" rIns="45719"/>
          <a:lstStyle/>
          <a:p>
            <a:pPr/>
          </a:p>
        </p:txBody>
      </p:sp>
      <p:sp>
        <p:nvSpPr>
          <p:cNvPr id="195" name="Text 5"/>
          <p:cNvSpPr txBox="1"/>
          <p:nvPr/>
        </p:nvSpPr>
        <p:spPr>
          <a:xfrm>
            <a:off x="502919" y="1681787"/>
            <a:ext cx="8229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A6E80"/>
                </a:solidFill>
              </a:defRPr>
            </a:lvl1pPr>
          </a:lstStyle>
          <a:p>
            <a:pPr/>
            <a:r>
              <a:t>2022</a:t>
            </a:r>
          </a:p>
        </p:txBody>
      </p:sp>
      <p:sp>
        <p:nvSpPr>
          <p:cNvPr id="196" name="Text 6"/>
          <p:cNvSpPr txBox="1"/>
          <p:nvPr/>
        </p:nvSpPr>
        <p:spPr>
          <a:xfrm>
            <a:off x="411479" y="2512060"/>
            <a:ext cx="1005842"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065A82"/>
                </a:solidFill>
                <a:latin typeface="Georgia"/>
                <a:ea typeface="Georgia"/>
                <a:cs typeface="Georgia"/>
                <a:sym typeface="Georgia"/>
              </a:defRPr>
            </a:lvl1pPr>
          </a:lstStyle>
          <a:p>
            <a:pPr/>
            <a:r>
              <a:t>4K</a:t>
            </a:r>
          </a:p>
        </p:txBody>
      </p:sp>
      <p:sp>
        <p:nvSpPr>
          <p:cNvPr id="197" name="Text 7"/>
          <p:cNvSpPr txBox="1"/>
          <p:nvPr/>
        </p:nvSpPr>
        <p:spPr>
          <a:xfrm>
            <a:off x="411479" y="2857544"/>
            <a:ext cx="100584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A6E80"/>
                </a:solidFill>
              </a:defRPr>
            </a:lvl1pPr>
          </a:lstStyle>
          <a:p>
            <a:pPr/>
            <a:r>
              <a:t>GPT-3.5</a:t>
            </a:r>
          </a:p>
        </p:txBody>
      </p:sp>
      <p:sp>
        <p:nvSpPr>
          <p:cNvPr id="198" name="Shape 8"/>
          <p:cNvSpPr/>
          <p:nvPr/>
        </p:nvSpPr>
        <p:spPr>
          <a:xfrm>
            <a:off x="2606039" y="2148839"/>
            <a:ext cx="274321" cy="274321"/>
          </a:xfrm>
          <a:prstGeom prst="ellipse">
            <a:avLst/>
          </a:prstGeom>
          <a:solidFill>
            <a:srgbClr val="00B4D8"/>
          </a:solidFill>
          <a:ln w="12700">
            <a:miter lim="400000"/>
          </a:ln>
        </p:spPr>
        <p:txBody>
          <a:bodyPr lIns="45719" rIns="45719"/>
          <a:lstStyle/>
          <a:p>
            <a:pPr/>
          </a:p>
        </p:txBody>
      </p:sp>
      <p:sp>
        <p:nvSpPr>
          <p:cNvPr id="199" name="Text 9"/>
          <p:cNvSpPr txBox="1"/>
          <p:nvPr/>
        </p:nvSpPr>
        <p:spPr>
          <a:xfrm>
            <a:off x="2331719" y="1681787"/>
            <a:ext cx="8229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A6E80"/>
                </a:solidFill>
              </a:defRPr>
            </a:lvl1pPr>
          </a:lstStyle>
          <a:p>
            <a:pPr/>
            <a:r>
              <a:t>2023</a:t>
            </a:r>
          </a:p>
        </p:txBody>
      </p:sp>
      <p:sp>
        <p:nvSpPr>
          <p:cNvPr id="200" name="Text 10"/>
          <p:cNvSpPr txBox="1"/>
          <p:nvPr/>
        </p:nvSpPr>
        <p:spPr>
          <a:xfrm>
            <a:off x="2240280" y="2512060"/>
            <a:ext cx="1005841"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065A82"/>
                </a:solidFill>
                <a:latin typeface="Georgia"/>
                <a:ea typeface="Georgia"/>
                <a:cs typeface="Georgia"/>
                <a:sym typeface="Georgia"/>
              </a:defRPr>
            </a:lvl1pPr>
          </a:lstStyle>
          <a:p>
            <a:pPr/>
            <a:r>
              <a:t>32K</a:t>
            </a:r>
          </a:p>
        </p:txBody>
      </p:sp>
      <p:sp>
        <p:nvSpPr>
          <p:cNvPr id="201" name="Text 11"/>
          <p:cNvSpPr txBox="1"/>
          <p:nvPr/>
        </p:nvSpPr>
        <p:spPr>
          <a:xfrm>
            <a:off x="2240280" y="2857544"/>
            <a:ext cx="10058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A6E80"/>
                </a:solidFill>
              </a:defRPr>
            </a:lvl1pPr>
          </a:lstStyle>
          <a:p>
            <a:pPr/>
            <a:r>
              <a:t>GPT-4</a:t>
            </a:r>
          </a:p>
        </p:txBody>
      </p:sp>
      <p:sp>
        <p:nvSpPr>
          <p:cNvPr id="202" name="Shape 12"/>
          <p:cNvSpPr/>
          <p:nvPr/>
        </p:nvSpPr>
        <p:spPr>
          <a:xfrm>
            <a:off x="4434840" y="2148839"/>
            <a:ext cx="274321" cy="274321"/>
          </a:xfrm>
          <a:prstGeom prst="ellipse">
            <a:avLst/>
          </a:prstGeom>
          <a:solidFill>
            <a:srgbClr val="00B4D8"/>
          </a:solidFill>
          <a:ln w="12700">
            <a:miter lim="400000"/>
          </a:ln>
        </p:spPr>
        <p:txBody>
          <a:bodyPr lIns="45719" rIns="45719"/>
          <a:lstStyle/>
          <a:p>
            <a:pPr/>
          </a:p>
        </p:txBody>
      </p:sp>
      <p:sp>
        <p:nvSpPr>
          <p:cNvPr id="203" name="Text 13"/>
          <p:cNvSpPr txBox="1"/>
          <p:nvPr/>
        </p:nvSpPr>
        <p:spPr>
          <a:xfrm>
            <a:off x="4160519" y="1681787"/>
            <a:ext cx="8229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A6E80"/>
                </a:solidFill>
              </a:defRPr>
            </a:lvl1pPr>
          </a:lstStyle>
          <a:p>
            <a:pPr/>
            <a:r>
              <a:t>2024</a:t>
            </a:r>
          </a:p>
        </p:txBody>
      </p:sp>
      <p:sp>
        <p:nvSpPr>
          <p:cNvPr id="204" name="Text 14"/>
          <p:cNvSpPr txBox="1"/>
          <p:nvPr/>
        </p:nvSpPr>
        <p:spPr>
          <a:xfrm>
            <a:off x="4069079" y="2512060"/>
            <a:ext cx="1005841"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065A82"/>
                </a:solidFill>
                <a:latin typeface="Georgia"/>
                <a:ea typeface="Georgia"/>
                <a:cs typeface="Georgia"/>
                <a:sym typeface="Georgia"/>
              </a:defRPr>
            </a:lvl1pPr>
          </a:lstStyle>
          <a:p>
            <a:pPr/>
            <a:r>
              <a:t>1M</a:t>
            </a:r>
          </a:p>
        </p:txBody>
      </p:sp>
      <p:sp>
        <p:nvSpPr>
          <p:cNvPr id="205" name="Text 15"/>
          <p:cNvSpPr txBox="1"/>
          <p:nvPr/>
        </p:nvSpPr>
        <p:spPr>
          <a:xfrm>
            <a:off x="4069079" y="2857544"/>
            <a:ext cx="10058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A6E80"/>
                </a:solidFill>
              </a:defRPr>
            </a:lvl1pPr>
          </a:lstStyle>
          <a:p>
            <a:pPr/>
            <a:r>
              <a:t>Gemini 1.5</a:t>
            </a:r>
          </a:p>
        </p:txBody>
      </p:sp>
      <p:sp>
        <p:nvSpPr>
          <p:cNvPr id="206" name="Shape 16"/>
          <p:cNvSpPr/>
          <p:nvPr/>
        </p:nvSpPr>
        <p:spPr>
          <a:xfrm>
            <a:off x="6263640" y="2148839"/>
            <a:ext cx="274321" cy="274321"/>
          </a:xfrm>
          <a:prstGeom prst="ellipse">
            <a:avLst/>
          </a:prstGeom>
          <a:solidFill>
            <a:srgbClr val="00B4D8"/>
          </a:solidFill>
          <a:ln w="12700">
            <a:miter lim="400000"/>
          </a:ln>
        </p:spPr>
        <p:txBody>
          <a:bodyPr lIns="45719" rIns="45719"/>
          <a:lstStyle/>
          <a:p>
            <a:pPr/>
          </a:p>
        </p:txBody>
      </p:sp>
      <p:sp>
        <p:nvSpPr>
          <p:cNvPr id="207" name="Text 17"/>
          <p:cNvSpPr txBox="1"/>
          <p:nvPr/>
        </p:nvSpPr>
        <p:spPr>
          <a:xfrm>
            <a:off x="5989319" y="1681787"/>
            <a:ext cx="8229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A6E80"/>
                </a:solidFill>
              </a:defRPr>
            </a:lvl1pPr>
          </a:lstStyle>
          <a:p>
            <a:pPr/>
            <a:r>
              <a:t>2025</a:t>
            </a:r>
          </a:p>
        </p:txBody>
      </p:sp>
      <p:sp>
        <p:nvSpPr>
          <p:cNvPr id="208" name="Text 18"/>
          <p:cNvSpPr txBox="1"/>
          <p:nvPr/>
        </p:nvSpPr>
        <p:spPr>
          <a:xfrm>
            <a:off x="5897879" y="2512060"/>
            <a:ext cx="1005841"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065A82"/>
                </a:solidFill>
                <a:latin typeface="Georgia"/>
                <a:ea typeface="Georgia"/>
                <a:cs typeface="Georgia"/>
                <a:sym typeface="Georgia"/>
              </a:defRPr>
            </a:lvl1pPr>
          </a:lstStyle>
          <a:p>
            <a:pPr/>
            <a:r>
              <a:t>10M</a:t>
            </a:r>
          </a:p>
        </p:txBody>
      </p:sp>
      <p:sp>
        <p:nvSpPr>
          <p:cNvPr id="209" name="Text 19"/>
          <p:cNvSpPr txBox="1"/>
          <p:nvPr/>
        </p:nvSpPr>
        <p:spPr>
          <a:xfrm>
            <a:off x="5897879" y="2857544"/>
            <a:ext cx="10058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A6E80"/>
                </a:solidFill>
              </a:defRPr>
            </a:lvl1pPr>
          </a:lstStyle>
          <a:p>
            <a:pPr/>
            <a:r>
              <a:t>Llama 4</a:t>
            </a:r>
          </a:p>
        </p:txBody>
      </p:sp>
      <p:sp>
        <p:nvSpPr>
          <p:cNvPr id="210" name="Shape 20"/>
          <p:cNvSpPr/>
          <p:nvPr/>
        </p:nvSpPr>
        <p:spPr>
          <a:xfrm>
            <a:off x="8092440" y="2148839"/>
            <a:ext cx="274321" cy="274321"/>
          </a:xfrm>
          <a:prstGeom prst="ellipse">
            <a:avLst/>
          </a:prstGeom>
          <a:solidFill>
            <a:srgbClr val="00B4D8"/>
          </a:solidFill>
          <a:ln w="12700">
            <a:miter lim="400000"/>
          </a:ln>
        </p:spPr>
        <p:txBody>
          <a:bodyPr lIns="45719" rIns="45719"/>
          <a:lstStyle/>
          <a:p>
            <a:pPr/>
          </a:p>
        </p:txBody>
      </p:sp>
      <p:sp>
        <p:nvSpPr>
          <p:cNvPr id="211" name="Text 21"/>
          <p:cNvSpPr txBox="1"/>
          <p:nvPr/>
        </p:nvSpPr>
        <p:spPr>
          <a:xfrm>
            <a:off x="7818119" y="1681787"/>
            <a:ext cx="8229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A6E80"/>
                </a:solidFill>
              </a:defRPr>
            </a:lvl1pPr>
          </a:lstStyle>
          <a:p>
            <a:pPr/>
            <a:r>
              <a:t>2026</a:t>
            </a:r>
          </a:p>
        </p:txBody>
      </p:sp>
      <p:sp>
        <p:nvSpPr>
          <p:cNvPr id="212" name="Text 22"/>
          <p:cNvSpPr txBox="1"/>
          <p:nvPr/>
        </p:nvSpPr>
        <p:spPr>
          <a:xfrm>
            <a:off x="7726679" y="2512060"/>
            <a:ext cx="1005841"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065A82"/>
                </a:solidFill>
                <a:latin typeface="Georgia"/>
                <a:ea typeface="Georgia"/>
                <a:cs typeface="Georgia"/>
                <a:sym typeface="Georgia"/>
              </a:defRPr>
            </a:lvl1pPr>
          </a:lstStyle>
          <a:p>
            <a:pPr/>
            <a:r>
              <a:t>100M</a:t>
            </a:r>
          </a:p>
        </p:txBody>
      </p:sp>
      <p:sp>
        <p:nvSpPr>
          <p:cNvPr id="213" name="Text 23"/>
          <p:cNvSpPr txBox="1"/>
          <p:nvPr/>
        </p:nvSpPr>
        <p:spPr>
          <a:xfrm>
            <a:off x="7726679" y="2857544"/>
            <a:ext cx="10058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A6E80"/>
                </a:solidFill>
              </a:defRPr>
            </a:lvl1pPr>
          </a:lstStyle>
          <a:p>
            <a:pPr/>
            <a:r>
              <a:t>LTM-2-Mini</a:t>
            </a:r>
          </a:p>
        </p:txBody>
      </p:sp>
      <p:sp>
        <p:nvSpPr>
          <p:cNvPr id="214" name="Shape 24"/>
          <p:cNvSpPr/>
          <p:nvPr/>
        </p:nvSpPr>
        <p:spPr>
          <a:xfrm>
            <a:off x="548640" y="3383279"/>
            <a:ext cx="8229601" cy="109728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215" name="Shape 25"/>
          <p:cNvSpPr/>
          <p:nvPr/>
        </p:nvSpPr>
        <p:spPr>
          <a:xfrm>
            <a:off x="548640" y="3383279"/>
            <a:ext cx="64009" cy="1097281"/>
          </a:xfrm>
          <a:prstGeom prst="rect">
            <a:avLst/>
          </a:prstGeom>
          <a:solidFill>
            <a:srgbClr val="F9A825"/>
          </a:solidFill>
          <a:ln w="12700">
            <a:miter lim="400000"/>
          </a:ln>
        </p:spPr>
        <p:txBody>
          <a:bodyPr lIns="45719" rIns="45719"/>
          <a:lstStyle/>
          <a:p>
            <a:pPr/>
          </a:p>
        </p:txBody>
      </p:sp>
      <p:sp>
        <p:nvSpPr>
          <p:cNvPr id="216" name="Text 26"/>
          <p:cNvSpPr txBox="1"/>
          <p:nvPr/>
        </p:nvSpPr>
        <p:spPr>
          <a:xfrm>
            <a:off x="822960" y="3510280"/>
            <a:ext cx="3657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Why does this matter?</a:t>
            </a:r>
          </a:p>
        </p:txBody>
      </p:sp>
      <p:sp>
        <p:nvSpPr>
          <p:cNvPr id="217" name="Text 27"/>
          <p:cNvSpPr txBox="1"/>
          <p:nvPr/>
        </p:nvSpPr>
        <p:spPr>
          <a:xfrm>
            <a:off x="868680" y="3853535"/>
            <a:ext cx="7498079" cy="4310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100">
                <a:solidFill>
                  <a:srgbClr val="5A6E80"/>
                </a:solidFill>
              </a:defRPr>
            </a:lvl1pPr>
          </a:lstStyle>
          <a:p>
            <a:pPr/>
            <a:r>
              <a:t>Longer context = more data in a single prompt. Analyze entire codebases, full-season golf stats, complete tournament histories. But "context rot" means effective capacity is only 60-70% of advertised max.</a:t>
            </a:r>
          </a:p>
        </p:txBody>
      </p:sp>
      <p:sp>
        <p:nvSpPr>
          <p:cNvPr id="218" name="Shape 28"/>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219" name="Text 29"/>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11 / 21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221"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222" name="Text 1"/>
          <p:cNvSpPr txBox="1"/>
          <p:nvPr/>
        </p:nvSpPr>
        <p:spPr>
          <a:xfrm>
            <a:off x="548640" y="372110"/>
            <a:ext cx="82296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Georgia"/>
                <a:ea typeface="Georgia"/>
                <a:cs typeface="Georgia"/>
                <a:sym typeface="Georgia"/>
              </a:defRPr>
            </a:lvl1pPr>
          </a:lstStyle>
          <a:p>
            <a:pPr/>
            <a:r>
              <a:t>Why Context Engineering?</a:t>
            </a:r>
          </a:p>
        </p:txBody>
      </p:sp>
      <p:sp>
        <p:nvSpPr>
          <p:cNvPr id="223" name="Text 2"/>
          <p:cNvSpPr txBox="1"/>
          <p:nvPr/>
        </p:nvSpPr>
        <p:spPr>
          <a:xfrm>
            <a:off x="594360" y="8883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solidFill>
                  <a:srgbClr val="00B4D8"/>
                </a:solidFill>
              </a:defRPr>
            </a:lvl1pPr>
          </a:lstStyle>
          <a:p>
            <a:pPr/>
            <a:r>
              <a:t>It's not just what you ask — it's what context you provide</a:t>
            </a:r>
          </a:p>
        </p:txBody>
      </p:sp>
      <p:sp>
        <p:nvSpPr>
          <p:cNvPr id="224" name="Shape 3"/>
          <p:cNvSpPr/>
          <p:nvPr/>
        </p:nvSpPr>
        <p:spPr>
          <a:xfrm>
            <a:off x="548640" y="1463039"/>
            <a:ext cx="3840480" cy="128016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225" name="Image 0" descr="Image 0"/>
          <p:cNvPicPr>
            <a:picLocks noChangeAspect="1"/>
          </p:cNvPicPr>
          <p:nvPr/>
        </p:nvPicPr>
        <p:blipFill>
          <a:blip r:embed="rId2">
            <a:extLst/>
          </a:blip>
          <a:stretch>
            <a:fillRect/>
          </a:stretch>
        </p:blipFill>
        <p:spPr>
          <a:xfrm>
            <a:off x="731519" y="1691639"/>
            <a:ext cx="365761" cy="365761"/>
          </a:xfrm>
          <a:prstGeom prst="rect">
            <a:avLst/>
          </a:prstGeom>
          <a:ln w="12700">
            <a:miter lim="400000"/>
          </a:ln>
        </p:spPr>
      </p:pic>
      <p:sp>
        <p:nvSpPr>
          <p:cNvPr id="226" name="Text 4"/>
          <p:cNvSpPr txBox="1"/>
          <p:nvPr/>
        </p:nvSpPr>
        <p:spPr>
          <a:xfrm>
            <a:off x="1234439" y="1720850"/>
            <a:ext cx="29260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Filter &amp; Rank</a:t>
            </a:r>
          </a:p>
        </p:txBody>
      </p:sp>
      <p:sp>
        <p:nvSpPr>
          <p:cNvPr id="227" name="Text 5"/>
          <p:cNvSpPr txBox="1"/>
          <p:nvPr/>
        </p:nvSpPr>
        <p:spPr>
          <a:xfrm>
            <a:off x="1280159" y="2122889"/>
            <a:ext cx="2834642"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Don't dump everything in. Curate the most relevant data and order it by importance.</a:t>
            </a:r>
          </a:p>
        </p:txBody>
      </p:sp>
      <p:sp>
        <p:nvSpPr>
          <p:cNvPr id="228" name="Shape 6"/>
          <p:cNvSpPr/>
          <p:nvPr/>
        </p:nvSpPr>
        <p:spPr>
          <a:xfrm>
            <a:off x="4754879" y="1463039"/>
            <a:ext cx="3840481" cy="128016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229" name="Image 1" descr="Image 1"/>
          <p:cNvPicPr>
            <a:picLocks noChangeAspect="1"/>
          </p:cNvPicPr>
          <p:nvPr/>
        </p:nvPicPr>
        <p:blipFill>
          <a:blip r:embed="rId3">
            <a:extLst/>
          </a:blip>
          <a:stretch>
            <a:fillRect/>
          </a:stretch>
        </p:blipFill>
        <p:spPr>
          <a:xfrm>
            <a:off x="4937759" y="1691639"/>
            <a:ext cx="365761" cy="365761"/>
          </a:xfrm>
          <a:prstGeom prst="rect">
            <a:avLst/>
          </a:prstGeom>
          <a:ln w="12700">
            <a:miter lim="400000"/>
          </a:ln>
        </p:spPr>
      </p:pic>
      <p:sp>
        <p:nvSpPr>
          <p:cNvPr id="230" name="Text 7"/>
          <p:cNvSpPr txBox="1"/>
          <p:nvPr/>
        </p:nvSpPr>
        <p:spPr>
          <a:xfrm>
            <a:off x="5440679" y="1720850"/>
            <a:ext cx="29260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Structure Matters</a:t>
            </a:r>
          </a:p>
        </p:txBody>
      </p:sp>
      <p:sp>
        <p:nvSpPr>
          <p:cNvPr id="231" name="Text 8"/>
          <p:cNvSpPr txBox="1"/>
          <p:nvPr/>
        </p:nvSpPr>
        <p:spPr>
          <a:xfrm>
            <a:off x="5486399" y="2122889"/>
            <a:ext cx="283464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Place critical info at the beginning and end. The "lost in the middle" problem is real.</a:t>
            </a:r>
          </a:p>
        </p:txBody>
      </p:sp>
      <p:sp>
        <p:nvSpPr>
          <p:cNvPr id="232" name="Shape 9"/>
          <p:cNvSpPr/>
          <p:nvPr/>
        </p:nvSpPr>
        <p:spPr>
          <a:xfrm>
            <a:off x="548640" y="2971799"/>
            <a:ext cx="3840480" cy="1280162"/>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233" name="Image 2" descr="Image 2"/>
          <p:cNvPicPr>
            <a:picLocks noChangeAspect="1"/>
          </p:cNvPicPr>
          <p:nvPr/>
        </p:nvPicPr>
        <p:blipFill>
          <a:blip r:embed="rId4">
            <a:extLst/>
          </a:blip>
          <a:stretch>
            <a:fillRect/>
          </a:stretch>
        </p:blipFill>
        <p:spPr>
          <a:xfrm>
            <a:off x="731519" y="3200400"/>
            <a:ext cx="365761" cy="365760"/>
          </a:xfrm>
          <a:prstGeom prst="rect">
            <a:avLst/>
          </a:prstGeom>
          <a:ln w="12700">
            <a:miter lim="400000"/>
          </a:ln>
        </p:spPr>
      </p:pic>
      <p:sp>
        <p:nvSpPr>
          <p:cNvPr id="234" name="Text 10"/>
          <p:cNvSpPr txBox="1"/>
          <p:nvPr/>
        </p:nvSpPr>
        <p:spPr>
          <a:xfrm>
            <a:off x="1234439" y="3229609"/>
            <a:ext cx="29260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Prune &amp; Summarize</a:t>
            </a:r>
          </a:p>
        </p:txBody>
      </p:sp>
      <p:sp>
        <p:nvSpPr>
          <p:cNvPr id="235" name="Text 11"/>
          <p:cNvSpPr txBox="1"/>
          <p:nvPr/>
        </p:nvSpPr>
        <p:spPr>
          <a:xfrm>
            <a:off x="1280159" y="3631649"/>
            <a:ext cx="2834642"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Compress verbose data. A 50-page report summary outperforms the raw document.</a:t>
            </a:r>
          </a:p>
        </p:txBody>
      </p:sp>
      <p:sp>
        <p:nvSpPr>
          <p:cNvPr id="236" name="Shape 12"/>
          <p:cNvSpPr/>
          <p:nvPr/>
        </p:nvSpPr>
        <p:spPr>
          <a:xfrm>
            <a:off x="4754879" y="2971799"/>
            <a:ext cx="3840481" cy="1280162"/>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237" name="Image 3" descr="Image 3"/>
          <p:cNvPicPr>
            <a:picLocks noChangeAspect="1"/>
          </p:cNvPicPr>
          <p:nvPr/>
        </p:nvPicPr>
        <p:blipFill>
          <a:blip r:embed="rId5">
            <a:extLst/>
          </a:blip>
          <a:stretch>
            <a:fillRect/>
          </a:stretch>
        </p:blipFill>
        <p:spPr>
          <a:xfrm>
            <a:off x="4937759" y="3200400"/>
            <a:ext cx="365761" cy="365760"/>
          </a:xfrm>
          <a:prstGeom prst="rect">
            <a:avLst/>
          </a:prstGeom>
          <a:ln w="12700">
            <a:miter lim="400000"/>
          </a:ln>
        </p:spPr>
      </p:pic>
      <p:sp>
        <p:nvSpPr>
          <p:cNvPr id="238" name="Text 13"/>
          <p:cNvSpPr txBox="1"/>
          <p:nvPr/>
        </p:nvSpPr>
        <p:spPr>
          <a:xfrm>
            <a:off x="5440679" y="3229609"/>
            <a:ext cx="29260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Georgia"/>
                <a:ea typeface="Georgia"/>
                <a:cs typeface="Georgia"/>
                <a:sym typeface="Georgia"/>
              </a:defRPr>
            </a:lvl1pPr>
          </a:lstStyle>
          <a:p>
            <a:pPr/>
            <a:r>
              <a:t>Context Rot</a:t>
            </a:r>
          </a:p>
        </p:txBody>
      </p:sp>
      <p:sp>
        <p:nvSpPr>
          <p:cNvPr id="239" name="Text 14"/>
          <p:cNvSpPr txBox="1"/>
          <p:nvPr/>
        </p:nvSpPr>
        <p:spPr>
          <a:xfrm>
            <a:off x="5486399" y="3631649"/>
            <a:ext cx="283464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E8EEF2"/>
                </a:solidFill>
              </a:defRPr>
            </a:lvl1pPr>
          </a:lstStyle>
          <a:p>
            <a:pPr/>
            <a:r>
              <a:t>Performance degrades as input grows. Feed curated highlights, not entire season stats.</a:t>
            </a:r>
          </a:p>
        </p:txBody>
      </p:sp>
      <p:sp>
        <p:nvSpPr>
          <p:cNvPr id="240" name="Shape 15"/>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241" name="Text 16"/>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12 / 21</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243" name="Shape 0"/>
          <p:cNvSpPr/>
          <p:nvPr/>
        </p:nvSpPr>
        <p:spPr>
          <a:xfrm>
            <a:off x="548640" y="320040"/>
            <a:ext cx="2286001" cy="292609"/>
          </a:xfrm>
          <a:prstGeom prst="rect">
            <a:avLst/>
          </a:prstGeom>
          <a:solidFill>
            <a:srgbClr val="F9A825"/>
          </a:solidFill>
          <a:ln w="12700">
            <a:miter lim="400000"/>
          </a:ln>
        </p:spPr>
        <p:txBody>
          <a:bodyPr lIns="45719" rIns="45719"/>
          <a:lstStyle/>
          <a:p>
            <a:pPr/>
          </a:p>
        </p:txBody>
      </p:sp>
      <p:sp>
        <p:nvSpPr>
          <p:cNvPr id="244" name="Text 1"/>
          <p:cNvSpPr txBox="1"/>
          <p:nvPr/>
        </p:nvSpPr>
        <p:spPr>
          <a:xfrm>
            <a:off x="594360" y="352088"/>
            <a:ext cx="2194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1A1A2E"/>
                </a:solidFill>
              </a:defRPr>
            </a:lvl1pPr>
          </a:lstStyle>
          <a:p>
            <a:pPr/>
            <a:r>
              <a:t>TOKENECONOMICS</a:t>
            </a:r>
          </a:p>
        </p:txBody>
      </p:sp>
      <p:sp>
        <p:nvSpPr>
          <p:cNvPr id="245"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The Cost of AI: Token Pricing</a:t>
            </a:r>
          </a:p>
        </p:txBody>
      </p:sp>
      <p:graphicFrame>
        <p:nvGraphicFramePr>
          <p:cNvPr id="246" name="Table 0"/>
          <p:cNvGraphicFramePr/>
          <p:nvPr/>
        </p:nvGraphicFramePr>
        <p:xfrm>
          <a:off x="548640" y="1417319"/>
          <a:ext cx="8046720" cy="194767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86000"/>
                <a:gridCol w="1371600"/>
                <a:gridCol w="1371600"/>
                <a:gridCol w="3017520"/>
              </a:tblGrid>
              <a:tr h="347472">
                <a:tc>
                  <a:txBody>
                    <a:bodyPr/>
                    <a:lstStyle/>
                    <a:p>
                      <a:pPr algn="l">
                        <a:defRPr sz="1800"/>
                      </a:pPr>
                      <a:r>
                        <a:rPr b="1" sz="1100">
                          <a:solidFill>
                            <a:srgbClr val="FFFFFF"/>
                          </a:solidFill>
                        </a:rPr>
                        <a:t>Model</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Input / 1M</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Output / 1M</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c>
                  <a:txBody>
                    <a:bodyPr/>
                    <a:lstStyle/>
                    <a:p>
                      <a:pPr algn="ctr">
                        <a:defRPr sz="1800"/>
                      </a:pPr>
                      <a:r>
                        <a:rPr b="1" sz="1100">
                          <a:solidFill>
                            <a:srgbClr val="FFFFFF"/>
                          </a:solidFill>
                        </a:rPr>
                        <a:t>Best For</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065A82"/>
                    </a:solidFill>
                  </a:tcPr>
                </a:tc>
              </a:tr>
              <a:tr h="320040">
                <a:tc>
                  <a:txBody>
                    <a:bodyPr/>
                    <a:lstStyle/>
                    <a:p>
                      <a:pPr algn="l">
                        <a:defRPr sz="1800"/>
                      </a:pPr>
                      <a:r>
                        <a:rPr b="1" sz="1100">
                          <a:solidFill>
                            <a:srgbClr val="1A1A2E"/>
                          </a:solidFill>
                        </a:rPr>
                        <a:t>Claude Opus 4.6</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$5.00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$25.00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Complex reasoning</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r h="320040">
                <a:tc>
                  <a:txBody>
                    <a:bodyPr/>
                    <a:lstStyle/>
                    <a:p>
                      <a:pPr algn="l">
                        <a:defRPr sz="1800"/>
                      </a:pPr>
                      <a:r>
                        <a:rPr b="1" sz="1100">
                          <a:solidFill>
                            <a:srgbClr val="1A1A2E"/>
                          </a:solidFill>
                        </a:rPr>
                        <a:t>Claude Sonnet 4.6</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$3.00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$15.00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Balanced quality</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r>
              <a:tr h="320040">
                <a:tc>
                  <a:txBody>
                    <a:bodyPr/>
                    <a:lstStyle/>
                    <a:p>
                      <a:pPr algn="l">
                        <a:defRPr sz="1800"/>
                      </a:pPr>
                      <a:r>
                        <a:rPr b="1" sz="1100">
                          <a:solidFill>
                            <a:srgbClr val="1A1A2E"/>
                          </a:solidFill>
                        </a:rPr>
                        <a:t>GPT-5.4</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$1.25</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$10.00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General purpose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r h="320040">
                <a:tc>
                  <a:txBody>
                    <a:bodyPr/>
                    <a:lstStyle/>
                    <a:p>
                      <a:pPr algn="l">
                        <a:defRPr sz="1800"/>
                      </a:pPr>
                      <a:r>
                        <a:rPr b="1" sz="1100">
                          <a:solidFill>
                            <a:srgbClr val="1A1A2E"/>
                          </a:solidFill>
                        </a:rPr>
                        <a:t>Gemini 2.5 Flash</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$0.30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$2.50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ctr">
                        <a:defRPr sz="1800"/>
                      </a:pPr>
                      <a:r>
                        <a:rPr sz="1100">
                          <a:solidFill>
                            <a:srgbClr val="5A6E80"/>
                          </a:solidFill>
                        </a:rPr>
                        <a:t>Speed + cost</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r>
              <a:tr h="320040">
                <a:tc>
                  <a:txBody>
                    <a:bodyPr/>
                    <a:lstStyle/>
                    <a:p>
                      <a:pPr algn="l">
                        <a:defRPr sz="1800"/>
                      </a:pPr>
                      <a:r>
                        <a:rPr b="1" sz="1100">
                          <a:solidFill>
                            <a:srgbClr val="1A1A2E"/>
                          </a:solidFill>
                        </a:rPr>
                        <a:t>Gemini Flash-Lite</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$0.10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$0.40</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c>
                  <a:txBody>
                    <a:bodyPr/>
                    <a:lstStyle/>
                    <a:p>
                      <a:pPr algn="ctr">
                        <a:defRPr sz="1800"/>
                      </a:pPr>
                      <a:r>
                        <a:rPr sz="1100">
                          <a:solidFill>
                            <a:srgbClr val="5A6E80"/>
                          </a:solidFill>
                        </a:rPr>
                        <a:t>Budget tasks</a:t>
                      </a:r>
                    </a:p>
                  </a:txBody>
                  <a:tcPr marL="45720" marR="45720" marT="45720" marB="45720" anchor="t" anchorCtr="0" horzOverflow="overflow">
                    <a:lnL w="6350">
                      <a:solidFill>
                        <a:srgbClr val="D0D5DD"/>
                      </a:solidFill>
                    </a:lnL>
                    <a:lnR w="6350">
                      <a:solidFill>
                        <a:srgbClr val="D0D5DD"/>
                      </a:solidFill>
                    </a:lnR>
                    <a:lnT w="6350">
                      <a:solidFill>
                        <a:srgbClr val="D0D5DD"/>
                      </a:solidFill>
                    </a:lnT>
                    <a:lnB w="6350">
                      <a:solidFill>
                        <a:srgbClr val="D0D5DD"/>
                      </a:solidFill>
                    </a:lnB>
                    <a:solidFill>
                      <a:srgbClr val="E8EEF2"/>
                    </a:solidFill>
                  </a:tcPr>
                </a:tc>
              </a:tr>
            </a:tbl>
          </a:graphicData>
        </a:graphic>
      </p:graphicFrame>
      <p:sp>
        <p:nvSpPr>
          <p:cNvPr id="247" name="Text 3"/>
          <p:cNvSpPr txBox="1"/>
          <p:nvPr/>
        </p:nvSpPr>
        <p:spPr>
          <a:xfrm>
            <a:off x="548640" y="3281680"/>
            <a:ext cx="4572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What does it cost in practice?</a:t>
            </a:r>
          </a:p>
        </p:txBody>
      </p:sp>
      <p:sp>
        <p:nvSpPr>
          <p:cNvPr id="248" name="Text 4"/>
          <p:cNvSpPr txBox="1"/>
          <p:nvPr/>
        </p:nvSpPr>
        <p:spPr>
          <a:xfrm>
            <a:off x="777239" y="3572177"/>
            <a:ext cx="7680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Analyze 10-page donor report</a:t>
            </a:r>
            <a:r>
              <a:rPr b="0">
                <a:solidFill>
                  <a:srgbClr val="5A6E80"/>
                </a:solidFill>
              </a:rPr>
              <a:t>  |  ~5K input  |  </a:t>
            </a:r>
            <a:r>
              <a:rPr>
                <a:solidFill>
                  <a:srgbClr val="1C7293"/>
                </a:solidFill>
              </a:rPr>
              <a:t>$0.015 (Sonnet)</a:t>
            </a:r>
          </a:p>
        </p:txBody>
      </p:sp>
      <p:sp>
        <p:nvSpPr>
          <p:cNvPr id="249" name="Text 5"/>
          <p:cNvSpPr txBox="1"/>
          <p:nvPr/>
        </p:nvSpPr>
        <p:spPr>
          <a:xfrm>
            <a:off x="777239" y="3846497"/>
            <a:ext cx="7680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Generate tournament marketing email</a:t>
            </a:r>
            <a:r>
              <a:rPr b="0">
                <a:solidFill>
                  <a:srgbClr val="5A6E80"/>
                </a:solidFill>
              </a:rPr>
              <a:t>  |  ~1K total  |  </a:t>
            </a:r>
            <a:r>
              <a:rPr>
                <a:solidFill>
                  <a:srgbClr val="1C7293"/>
                </a:solidFill>
              </a:rPr>
              <a:t>$0.003</a:t>
            </a:r>
          </a:p>
        </p:txBody>
      </p:sp>
      <p:sp>
        <p:nvSpPr>
          <p:cNvPr id="250" name="Text 6"/>
          <p:cNvSpPr txBox="1"/>
          <p:nvPr/>
        </p:nvSpPr>
        <p:spPr>
          <a:xfrm>
            <a:off x="777239" y="4120817"/>
            <a:ext cx="7680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Summarize 50 pages of meeting notes</a:t>
            </a:r>
            <a:r>
              <a:rPr b="0">
                <a:solidFill>
                  <a:srgbClr val="5A6E80"/>
                </a:solidFill>
              </a:rPr>
              <a:t>  |  ~25K input  |  </a:t>
            </a:r>
            <a:r>
              <a:rPr>
                <a:solidFill>
                  <a:srgbClr val="1C7293"/>
                </a:solidFill>
              </a:rPr>
              <a:t>$0.075</a:t>
            </a:r>
          </a:p>
        </p:txBody>
      </p:sp>
      <p:sp>
        <p:nvSpPr>
          <p:cNvPr id="251" name="Text 7"/>
          <p:cNvSpPr txBox="1"/>
          <p:nvPr/>
        </p:nvSpPr>
        <p:spPr>
          <a:xfrm>
            <a:off x="777239" y="4395137"/>
            <a:ext cx="7680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Draft annual golf fund report</a:t>
            </a:r>
            <a:r>
              <a:rPr b="0">
                <a:solidFill>
                  <a:srgbClr val="5A6E80"/>
                </a:solidFill>
              </a:rPr>
              <a:t>  |  ~3K total  |  </a:t>
            </a:r>
            <a:r>
              <a:rPr>
                <a:solidFill>
                  <a:srgbClr val="1C7293"/>
                </a:solidFill>
              </a:rPr>
              <a:t>$0.009</a:t>
            </a:r>
          </a:p>
        </p:txBody>
      </p:sp>
      <p:sp>
        <p:nvSpPr>
          <p:cNvPr id="252" name="Shape 8"/>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253" name="Text 9"/>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13 / 21</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255" name="Shape 0"/>
          <p:cNvSpPr/>
          <p:nvPr/>
        </p:nvSpPr>
        <p:spPr>
          <a:xfrm>
            <a:off x="0" y="-1"/>
            <a:ext cx="9144000" cy="73154"/>
          </a:xfrm>
          <a:prstGeom prst="rect">
            <a:avLst/>
          </a:prstGeom>
          <a:solidFill>
            <a:srgbClr val="F9A825"/>
          </a:solidFill>
          <a:ln w="12700">
            <a:miter lim="400000"/>
          </a:ln>
        </p:spPr>
        <p:txBody>
          <a:bodyPr lIns="45719" rIns="45719"/>
          <a:lstStyle/>
          <a:p>
            <a:pPr/>
          </a:p>
        </p:txBody>
      </p:sp>
      <p:sp>
        <p:nvSpPr>
          <p:cNvPr id="256" name="Text 1"/>
          <p:cNvSpPr txBox="1"/>
          <p:nvPr/>
        </p:nvSpPr>
        <p:spPr>
          <a:xfrm>
            <a:off x="548640" y="372110"/>
            <a:ext cx="82296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Georgia"/>
                <a:ea typeface="Georgia"/>
                <a:cs typeface="Georgia"/>
                <a:sym typeface="Georgia"/>
              </a:defRPr>
            </a:lvl1pPr>
          </a:lstStyle>
          <a:p>
            <a:pPr/>
            <a:r>
              <a:t>GIGO: Your Prompt is Your Lever</a:t>
            </a:r>
          </a:p>
        </p:txBody>
      </p:sp>
      <p:sp>
        <p:nvSpPr>
          <p:cNvPr id="257" name="Text 2"/>
          <p:cNvSpPr txBox="1"/>
          <p:nvPr/>
        </p:nvSpPr>
        <p:spPr>
          <a:xfrm>
            <a:off x="594360" y="8883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solidFill>
                  <a:srgbClr val="F9A825"/>
                </a:solidFill>
              </a:defRPr>
            </a:lvl1pPr>
          </a:lstStyle>
          <a:p>
            <a:pPr/>
            <a:r>
              <a:t>Garbage In, Garbage Out — curating your prompt is everything</a:t>
            </a:r>
          </a:p>
        </p:txBody>
      </p:sp>
      <p:sp>
        <p:nvSpPr>
          <p:cNvPr id="258" name="Shape 3"/>
          <p:cNvSpPr/>
          <p:nvPr/>
        </p:nvSpPr>
        <p:spPr>
          <a:xfrm>
            <a:off x="548640" y="1463039"/>
            <a:ext cx="3840480" cy="2926082"/>
          </a:xfrm>
          <a:prstGeom prst="rect">
            <a:avLst/>
          </a:prstGeom>
          <a:solidFill>
            <a:srgbClr val="1A1020"/>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259" name="Shape 4"/>
          <p:cNvSpPr/>
          <p:nvPr/>
        </p:nvSpPr>
        <p:spPr>
          <a:xfrm>
            <a:off x="548640" y="1463039"/>
            <a:ext cx="3840480" cy="411481"/>
          </a:xfrm>
          <a:prstGeom prst="rect">
            <a:avLst/>
          </a:prstGeom>
          <a:solidFill>
            <a:srgbClr val="E63946"/>
          </a:solidFill>
          <a:ln w="12700">
            <a:miter lim="400000"/>
          </a:ln>
        </p:spPr>
        <p:txBody>
          <a:bodyPr lIns="45719" rIns="45719"/>
          <a:lstStyle/>
          <a:p>
            <a:pPr/>
          </a:p>
        </p:txBody>
      </p:sp>
      <p:sp>
        <p:nvSpPr>
          <p:cNvPr id="260" name="Text 5"/>
          <p:cNvSpPr txBox="1"/>
          <p:nvPr/>
        </p:nvSpPr>
        <p:spPr>
          <a:xfrm>
            <a:off x="594360" y="1521459"/>
            <a:ext cx="374904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Vague Prompt</a:t>
            </a:r>
          </a:p>
        </p:txBody>
      </p:sp>
      <p:sp>
        <p:nvSpPr>
          <p:cNvPr id="261" name="Text 6"/>
          <p:cNvSpPr txBox="1"/>
          <p:nvPr/>
        </p:nvSpPr>
        <p:spPr>
          <a:xfrm>
            <a:off x="868679" y="2156899"/>
            <a:ext cx="3200402"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E8EEF2"/>
                </a:solidFill>
              </a:defRPr>
            </a:lvl1pPr>
          </a:lstStyle>
          <a:p>
            <a:pPr/>
            <a:r>
              <a:t>"Tell me about the donors"</a:t>
            </a:r>
          </a:p>
        </p:txBody>
      </p:sp>
      <p:sp>
        <p:nvSpPr>
          <p:cNvPr id="262" name="Text 7"/>
          <p:cNvSpPr txBox="1"/>
          <p:nvPr/>
        </p:nvSpPr>
        <p:spPr>
          <a:xfrm>
            <a:off x="868679" y="2777281"/>
            <a:ext cx="3200402" cy="7547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40000"/>
              </a:lnSpc>
              <a:defRPr sz="1200">
                <a:solidFill>
                  <a:srgbClr val="E8EEF2"/>
                </a:solidFill>
              </a:defRPr>
            </a:lvl1pPr>
          </a:lstStyle>
          <a:p>
            <a:pPr/>
            <a:r>
              <a:t>Result: Generic, unfocused response. No actionable insights. Wastes tokens. Requires multiple follow-ups.</a:t>
            </a:r>
          </a:p>
        </p:txBody>
      </p:sp>
      <p:sp>
        <p:nvSpPr>
          <p:cNvPr id="263" name="Shape 8"/>
          <p:cNvSpPr/>
          <p:nvPr/>
        </p:nvSpPr>
        <p:spPr>
          <a:xfrm>
            <a:off x="4754879" y="1463039"/>
            <a:ext cx="3840481" cy="2926082"/>
          </a:xfrm>
          <a:prstGeom prst="rect">
            <a:avLst/>
          </a:prstGeom>
          <a:solidFill>
            <a:srgbClr val="0A1A20"/>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264" name="Shape 9"/>
          <p:cNvSpPr/>
          <p:nvPr/>
        </p:nvSpPr>
        <p:spPr>
          <a:xfrm>
            <a:off x="4754879" y="1463039"/>
            <a:ext cx="3840481" cy="411481"/>
          </a:xfrm>
          <a:prstGeom prst="rect">
            <a:avLst/>
          </a:prstGeom>
          <a:solidFill>
            <a:srgbClr val="2EC4B6"/>
          </a:solidFill>
          <a:ln w="12700">
            <a:miter lim="400000"/>
          </a:ln>
        </p:spPr>
        <p:txBody>
          <a:bodyPr lIns="45719" rIns="45719"/>
          <a:lstStyle/>
          <a:p>
            <a:pPr/>
          </a:p>
        </p:txBody>
      </p:sp>
      <p:sp>
        <p:nvSpPr>
          <p:cNvPr id="265" name="Text 10"/>
          <p:cNvSpPr txBox="1"/>
          <p:nvPr/>
        </p:nvSpPr>
        <p:spPr>
          <a:xfrm>
            <a:off x="4800599" y="1521459"/>
            <a:ext cx="374904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Engineered Prompt</a:t>
            </a:r>
          </a:p>
        </p:txBody>
      </p:sp>
      <p:sp>
        <p:nvSpPr>
          <p:cNvPr id="266" name="Text 11"/>
          <p:cNvSpPr txBox="1"/>
          <p:nvPr/>
        </p:nvSpPr>
        <p:spPr>
          <a:xfrm>
            <a:off x="5074919" y="2055299"/>
            <a:ext cx="3200402" cy="4614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E8EEF2"/>
                </a:solidFill>
              </a:defRPr>
            </a:lvl1pPr>
          </a:lstStyle>
          <a:p>
            <a:pPr/>
            <a:r>
              <a:t>Sets role, scope, specific metrics, output format, and actionable goal.</a:t>
            </a:r>
          </a:p>
        </p:txBody>
      </p:sp>
      <p:sp>
        <p:nvSpPr>
          <p:cNvPr id="267" name="Text 12"/>
          <p:cNvSpPr txBox="1"/>
          <p:nvPr/>
        </p:nvSpPr>
        <p:spPr>
          <a:xfrm>
            <a:off x="5074919" y="2777281"/>
            <a:ext cx="3200402" cy="7547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40000"/>
              </a:lnSpc>
              <a:defRPr sz="1200">
                <a:solidFill>
                  <a:srgbClr val="E8EEF2"/>
                </a:solidFill>
              </a:defRPr>
            </a:lvl1pPr>
          </a:lstStyle>
          <a:p>
            <a:pPr/>
            <a:r>
              <a:t>Result: Targeted analysis with clear recommendations. First-pass quality. Minimal token waste.</a:t>
            </a:r>
          </a:p>
        </p:txBody>
      </p:sp>
      <p:sp>
        <p:nvSpPr>
          <p:cNvPr id="268" name="Shape 13"/>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269" name="Text 14"/>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14 / 21</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271" name="Shape 0"/>
          <p:cNvSpPr/>
          <p:nvPr/>
        </p:nvSpPr>
        <p:spPr>
          <a:xfrm>
            <a:off x="548640" y="320040"/>
            <a:ext cx="2011679" cy="292609"/>
          </a:xfrm>
          <a:prstGeom prst="rect">
            <a:avLst/>
          </a:prstGeom>
          <a:solidFill>
            <a:srgbClr val="1C7293"/>
          </a:solidFill>
          <a:ln w="12700">
            <a:miter lim="400000"/>
          </a:ln>
        </p:spPr>
        <p:txBody>
          <a:bodyPr lIns="45719" rIns="45719"/>
          <a:lstStyle/>
          <a:p>
            <a:pPr/>
          </a:p>
        </p:txBody>
      </p:sp>
      <p:sp>
        <p:nvSpPr>
          <p:cNvPr id="272" name="Text 1"/>
          <p:cNvSpPr txBox="1"/>
          <p:nvPr/>
        </p:nvSpPr>
        <p:spPr>
          <a:xfrm>
            <a:off x="594360" y="352088"/>
            <a:ext cx="192023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TOOL SPOTLIGHT</a:t>
            </a:r>
          </a:p>
        </p:txBody>
      </p:sp>
      <p:sp>
        <p:nvSpPr>
          <p:cNvPr id="273"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Context Buddy: Visualize Your Prompt</a:t>
            </a:r>
          </a:p>
        </p:txBody>
      </p:sp>
      <p:sp>
        <p:nvSpPr>
          <p:cNvPr id="274" name="Text 5"/>
          <p:cNvSpPr txBox="1"/>
          <p:nvPr/>
        </p:nvSpPr>
        <p:spPr>
          <a:xfrm>
            <a:off x="640080" y="1522520"/>
            <a:ext cx="36576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1A2E"/>
                </a:solidFill>
                <a:latin typeface="Georgia"/>
                <a:ea typeface="Georgia"/>
                <a:cs typeface="Georgia"/>
                <a:sym typeface="Georgia"/>
              </a:defRPr>
            </a:lvl1pPr>
          </a:lstStyle>
          <a:p>
            <a:pPr/>
            <a:r>
              <a:t>Anatomy of a Great Prompt</a:t>
            </a:r>
          </a:p>
        </p:txBody>
      </p:sp>
      <p:sp>
        <p:nvSpPr>
          <p:cNvPr id="275" name="Shape 6"/>
          <p:cNvSpPr/>
          <p:nvPr/>
        </p:nvSpPr>
        <p:spPr>
          <a:xfrm>
            <a:off x="640080" y="1940350"/>
            <a:ext cx="8046720" cy="347473"/>
          </a:xfrm>
          <a:prstGeom prst="rect">
            <a:avLst/>
          </a:prstGeom>
          <a:solidFill>
            <a:srgbClr val="1C7293">
              <a:alpha val="80000"/>
            </a:srgbClr>
          </a:solidFill>
          <a:ln w="12700">
            <a:miter lim="400000"/>
          </a:ln>
        </p:spPr>
        <p:txBody>
          <a:bodyPr lIns="45719" rIns="45719"/>
          <a:lstStyle/>
          <a:p>
            <a:pPr/>
          </a:p>
        </p:txBody>
      </p:sp>
      <p:sp>
        <p:nvSpPr>
          <p:cNvPr id="276" name="Shape 7"/>
          <p:cNvSpPr/>
          <p:nvPr/>
        </p:nvSpPr>
        <p:spPr>
          <a:xfrm>
            <a:off x="640080" y="1940350"/>
            <a:ext cx="45721" cy="347473"/>
          </a:xfrm>
          <a:prstGeom prst="rect">
            <a:avLst/>
          </a:prstGeom>
          <a:solidFill>
            <a:srgbClr val="1C7293"/>
          </a:solidFill>
          <a:ln w="12700">
            <a:miter lim="400000"/>
          </a:ln>
        </p:spPr>
        <p:txBody>
          <a:bodyPr lIns="45719" rIns="45719"/>
          <a:lstStyle/>
          <a:p>
            <a:pPr/>
          </a:p>
        </p:txBody>
      </p:sp>
      <p:sp>
        <p:nvSpPr>
          <p:cNvPr id="277" name="Text 8"/>
          <p:cNvSpPr txBox="1"/>
          <p:nvPr/>
        </p:nvSpPr>
        <p:spPr>
          <a:xfrm>
            <a:off x="822960" y="2001232"/>
            <a:ext cx="77724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System Instruction</a:t>
            </a:r>
            <a:r>
              <a:rPr b="0">
                <a:solidFill>
                  <a:srgbClr val="5A6E80"/>
                </a:solidFill>
              </a:rPr>
              <a:t>  —  Set role &amp; persona</a:t>
            </a:r>
          </a:p>
        </p:txBody>
      </p:sp>
      <p:sp>
        <p:nvSpPr>
          <p:cNvPr id="278" name="Shape 9"/>
          <p:cNvSpPr/>
          <p:nvPr/>
        </p:nvSpPr>
        <p:spPr>
          <a:xfrm>
            <a:off x="640080" y="2351830"/>
            <a:ext cx="6400801" cy="347473"/>
          </a:xfrm>
          <a:prstGeom prst="rect">
            <a:avLst/>
          </a:prstGeom>
          <a:solidFill>
            <a:srgbClr val="065A82">
              <a:alpha val="80000"/>
            </a:srgbClr>
          </a:solidFill>
          <a:ln w="12700">
            <a:miter lim="400000"/>
          </a:ln>
        </p:spPr>
        <p:txBody>
          <a:bodyPr lIns="45719" rIns="45719"/>
          <a:lstStyle/>
          <a:p>
            <a:pPr/>
          </a:p>
        </p:txBody>
      </p:sp>
      <p:sp>
        <p:nvSpPr>
          <p:cNvPr id="279" name="Shape 10"/>
          <p:cNvSpPr/>
          <p:nvPr/>
        </p:nvSpPr>
        <p:spPr>
          <a:xfrm>
            <a:off x="640080" y="2351830"/>
            <a:ext cx="45721" cy="347473"/>
          </a:xfrm>
          <a:prstGeom prst="rect">
            <a:avLst/>
          </a:prstGeom>
          <a:solidFill>
            <a:srgbClr val="065A82"/>
          </a:solidFill>
          <a:ln w="12700">
            <a:miter lim="400000"/>
          </a:ln>
        </p:spPr>
        <p:txBody>
          <a:bodyPr lIns="45719" rIns="45719"/>
          <a:lstStyle/>
          <a:p>
            <a:pPr/>
          </a:p>
        </p:txBody>
      </p:sp>
      <p:sp>
        <p:nvSpPr>
          <p:cNvPr id="280" name="Text 11"/>
          <p:cNvSpPr txBox="1"/>
          <p:nvPr/>
        </p:nvSpPr>
        <p:spPr>
          <a:xfrm>
            <a:off x="822960" y="2412712"/>
            <a:ext cx="612648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Context</a:t>
            </a:r>
            <a:r>
              <a:rPr b="0">
                <a:solidFill>
                  <a:srgbClr val="5A6E80"/>
                </a:solidFill>
              </a:rPr>
              <a:t>  —  Background data &amp; docs</a:t>
            </a:r>
          </a:p>
        </p:txBody>
      </p:sp>
      <p:sp>
        <p:nvSpPr>
          <p:cNvPr id="281" name="Shape 12"/>
          <p:cNvSpPr/>
          <p:nvPr/>
        </p:nvSpPr>
        <p:spPr>
          <a:xfrm>
            <a:off x="640080" y="2763310"/>
            <a:ext cx="5029201" cy="347473"/>
          </a:xfrm>
          <a:prstGeom prst="rect">
            <a:avLst/>
          </a:prstGeom>
          <a:solidFill>
            <a:srgbClr val="00B4D8">
              <a:alpha val="80000"/>
            </a:srgbClr>
          </a:solidFill>
          <a:ln w="12700">
            <a:miter lim="400000"/>
          </a:ln>
        </p:spPr>
        <p:txBody>
          <a:bodyPr lIns="45719" rIns="45719"/>
          <a:lstStyle/>
          <a:p>
            <a:pPr/>
          </a:p>
        </p:txBody>
      </p:sp>
      <p:sp>
        <p:nvSpPr>
          <p:cNvPr id="282" name="Shape 13"/>
          <p:cNvSpPr/>
          <p:nvPr/>
        </p:nvSpPr>
        <p:spPr>
          <a:xfrm>
            <a:off x="640080" y="2763310"/>
            <a:ext cx="45721" cy="347473"/>
          </a:xfrm>
          <a:prstGeom prst="rect">
            <a:avLst/>
          </a:prstGeom>
          <a:solidFill>
            <a:srgbClr val="00B4D8"/>
          </a:solidFill>
          <a:ln w="12700">
            <a:miter lim="400000"/>
          </a:ln>
        </p:spPr>
        <p:txBody>
          <a:bodyPr lIns="45719" rIns="45719"/>
          <a:lstStyle/>
          <a:p>
            <a:pPr/>
          </a:p>
        </p:txBody>
      </p:sp>
      <p:sp>
        <p:nvSpPr>
          <p:cNvPr id="283" name="Text 14"/>
          <p:cNvSpPr txBox="1"/>
          <p:nvPr/>
        </p:nvSpPr>
        <p:spPr>
          <a:xfrm>
            <a:off x="822960" y="2824192"/>
            <a:ext cx="475488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Task</a:t>
            </a:r>
            <a:r>
              <a:rPr b="0">
                <a:solidFill>
                  <a:srgbClr val="5A6E80"/>
                </a:solidFill>
              </a:rPr>
              <a:t>  —  What to do specifically</a:t>
            </a:r>
          </a:p>
        </p:txBody>
      </p:sp>
      <p:sp>
        <p:nvSpPr>
          <p:cNvPr id="284" name="Shape 15"/>
          <p:cNvSpPr/>
          <p:nvPr/>
        </p:nvSpPr>
        <p:spPr>
          <a:xfrm>
            <a:off x="640080" y="3174790"/>
            <a:ext cx="3657601" cy="347473"/>
          </a:xfrm>
          <a:prstGeom prst="rect">
            <a:avLst/>
          </a:prstGeom>
          <a:solidFill>
            <a:srgbClr val="F9A825">
              <a:alpha val="80000"/>
            </a:srgbClr>
          </a:solidFill>
          <a:ln w="12700">
            <a:miter lim="400000"/>
          </a:ln>
        </p:spPr>
        <p:txBody>
          <a:bodyPr lIns="45719" rIns="45719"/>
          <a:lstStyle/>
          <a:p>
            <a:pPr/>
          </a:p>
        </p:txBody>
      </p:sp>
      <p:sp>
        <p:nvSpPr>
          <p:cNvPr id="285" name="Shape 16"/>
          <p:cNvSpPr/>
          <p:nvPr/>
        </p:nvSpPr>
        <p:spPr>
          <a:xfrm>
            <a:off x="640080" y="3174790"/>
            <a:ext cx="45721" cy="347473"/>
          </a:xfrm>
          <a:prstGeom prst="rect">
            <a:avLst/>
          </a:prstGeom>
          <a:solidFill>
            <a:srgbClr val="F9A825"/>
          </a:solidFill>
          <a:ln w="12700">
            <a:miter lim="400000"/>
          </a:ln>
        </p:spPr>
        <p:txBody>
          <a:bodyPr lIns="45719" rIns="45719"/>
          <a:lstStyle/>
          <a:p>
            <a:pPr/>
          </a:p>
        </p:txBody>
      </p:sp>
      <p:sp>
        <p:nvSpPr>
          <p:cNvPr id="286" name="Text 17"/>
          <p:cNvSpPr txBox="1"/>
          <p:nvPr/>
        </p:nvSpPr>
        <p:spPr>
          <a:xfrm>
            <a:off x="822960" y="3235672"/>
            <a:ext cx="338328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Constraints</a:t>
            </a:r>
            <a:r>
              <a:rPr b="0">
                <a:solidFill>
                  <a:srgbClr val="5A6E80"/>
                </a:solidFill>
              </a:rPr>
              <a:t>  —  Format, length, tone</a:t>
            </a:r>
          </a:p>
        </p:txBody>
      </p:sp>
      <p:sp>
        <p:nvSpPr>
          <p:cNvPr id="287" name="Shape 18"/>
          <p:cNvSpPr/>
          <p:nvPr/>
        </p:nvSpPr>
        <p:spPr>
          <a:xfrm>
            <a:off x="640080" y="3586270"/>
            <a:ext cx="2286001" cy="347473"/>
          </a:xfrm>
          <a:prstGeom prst="rect">
            <a:avLst/>
          </a:prstGeom>
          <a:solidFill>
            <a:srgbClr val="2EC4B6">
              <a:alpha val="80000"/>
            </a:srgbClr>
          </a:solidFill>
          <a:ln w="12700">
            <a:miter lim="400000"/>
          </a:ln>
        </p:spPr>
        <p:txBody>
          <a:bodyPr lIns="45719" rIns="45719"/>
          <a:lstStyle/>
          <a:p>
            <a:pPr/>
          </a:p>
        </p:txBody>
      </p:sp>
      <p:sp>
        <p:nvSpPr>
          <p:cNvPr id="288" name="Shape 19"/>
          <p:cNvSpPr/>
          <p:nvPr/>
        </p:nvSpPr>
        <p:spPr>
          <a:xfrm>
            <a:off x="640080" y="3586270"/>
            <a:ext cx="45721" cy="347473"/>
          </a:xfrm>
          <a:prstGeom prst="rect">
            <a:avLst/>
          </a:prstGeom>
          <a:solidFill>
            <a:srgbClr val="2EC4B6"/>
          </a:solidFill>
          <a:ln w="12700">
            <a:miter lim="400000"/>
          </a:ln>
        </p:spPr>
        <p:txBody>
          <a:bodyPr lIns="45719" rIns="45719"/>
          <a:lstStyle/>
          <a:p>
            <a:pPr/>
          </a:p>
        </p:txBody>
      </p:sp>
      <p:sp>
        <p:nvSpPr>
          <p:cNvPr id="289" name="Text 20"/>
          <p:cNvSpPr txBox="1"/>
          <p:nvPr/>
        </p:nvSpPr>
        <p:spPr>
          <a:xfrm>
            <a:off x="822960" y="3564602"/>
            <a:ext cx="2011681" cy="3908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100">
                <a:solidFill>
                  <a:srgbClr val="1A1A2E"/>
                </a:solidFill>
              </a:defRPr>
            </a:pPr>
            <a:r>
              <a:t>Output Format</a:t>
            </a:r>
            <a:r>
              <a:rPr b="0">
                <a:solidFill>
                  <a:srgbClr val="5A6E80"/>
                </a:solidFill>
              </a:rPr>
              <a:t>  —  How to structure reply</a:t>
            </a:r>
          </a:p>
        </p:txBody>
      </p:sp>
      <p:sp>
        <p:nvSpPr>
          <p:cNvPr id="290" name="Shape 21"/>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291" name="Text 22"/>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15 / 21</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293" name="Shape 0"/>
          <p:cNvSpPr/>
          <p:nvPr/>
        </p:nvSpPr>
        <p:spPr>
          <a:xfrm>
            <a:off x="548639" y="320040"/>
            <a:ext cx="2560322" cy="292609"/>
          </a:xfrm>
          <a:prstGeom prst="rect">
            <a:avLst/>
          </a:prstGeom>
          <a:solidFill>
            <a:srgbClr val="1C7293"/>
          </a:solidFill>
          <a:ln w="12700">
            <a:miter lim="400000"/>
          </a:ln>
        </p:spPr>
        <p:txBody>
          <a:bodyPr lIns="45719" rIns="45719"/>
          <a:lstStyle/>
          <a:p>
            <a:pPr/>
          </a:p>
        </p:txBody>
      </p:sp>
      <p:sp>
        <p:nvSpPr>
          <p:cNvPr id="294" name="Text 1"/>
          <p:cNvSpPr txBox="1"/>
          <p:nvPr/>
        </p:nvSpPr>
        <p:spPr>
          <a:xfrm>
            <a:off x="594359" y="352088"/>
            <a:ext cx="246888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PROMPT EXAMPLES</a:t>
            </a:r>
          </a:p>
        </p:txBody>
      </p:sp>
      <p:sp>
        <p:nvSpPr>
          <p:cNvPr id="295"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Donor Data Analysis: Good vs Bad</a:t>
            </a:r>
          </a:p>
        </p:txBody>
      </p:sp>
      <p:sp>
        <p:nvSpPr>
          <p:cNvPr id="296" name="Shape 3"/>
          <p:cNvSpPr/>
          <p:nvPr/>
        </p:nvSpPr>
        <p:spPr>
          <a:xfrm>
            <a:off x="548640" y="1463039"/>
            <a:ext cx="3840480" cy="15087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297" name="Shape 4"/>
          <p:cNvSpPr/>
          <p:nvPr/>
        </p:nvSpPr>
        <p:spPr>
          <a:xfrm>
            <a:off x="548640" y="1463039"/>
            <a:ext cx="64009" cy="1508761"/>
          </a:xfrm>
          <a:prstGeom prst="rect">
            <a:avLst/>
          </a:prstGeom>
          <a:solidFill>
            <a:srgbClr val="E63946"/>
          </a:solidFill>
          <a:ln w="12700">
            <a:miter lim="400000"/>
          </a:ln>
        </p:spPr>
        <p:txBody>
          <a:bodyPr lIns="45719" rIns="45719"/>
          <a:lstStyle/>
          <a:p>
            <a:pPr/>
          </a:p>
        </p:txBody>
      </p:sp>
      <p:sp>
        <p:nvSpPr>
          <p:cNvPr id="298" name="Text 5"/>
          <p:cNvSpPr txBox="1"/>
          <p:nvPr/>
        </p:nvSpPr>
        <p:spPr>
          <a:xfrm>
            <a:off x="777240" y="1557020"/>
            <a:ext cx="1828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E63946"/>
                </a:solidFill>
                <a:latin typeface="Georgia"/>
                <a:ea typeface="Georgia"/>
                <a:cs typeface="Georgia"/>
                <a:sym typeface="Georgia"/>
              </a:defRPr>
            </a:lvl1pPr>
          </a:lstStyle>
          <a:p>
            <a:pPr/>
            <a:r>
              <a:t>Bad Prompt</a:t>
            </a:r>
          </a:p>
        </p:txBody>
      </p:sp>
      <p:sp>
        <p:nvSpPr>
          <p:cNvPr id="299" name="Text 6"/>
          <p:cNvSpPr txBox="1"/>
          <p:nvPr/>
        </p:nvSpPr>
        <p:spPr>
          <a:xfrm>
            <a:off x="822960" y="2161847"/>
            <a:ext cx="329184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200">
                <a:solidFill>
                  <a:srgbClr val="5A6E80"/>
                </a:solidFill>
              </a:defRPr>
            </a:lvl1pPr>
          </a:lstStyle>
          <a:p>
            <a:pPr/>
            <a:r>
              <a:t>"Analyze the donor data"</a:t>
            </a:r>
          </a:p>
        </p:txBody>
      </p:sp>
      <p:sp>
        <p:nvSpPr>
          <p:cNvPr id="300" name="Shape 7"/>
          <p:cNvSpPr/>
          <p:nvPr/>
        </p:nvSpPr>
        <p:spPr>
          <a:xfrm>
            <a:off x="4754879" y="1463039"/>
            <a:ext cx="3840481" cy="15087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01" name="Shape 8"/>
          <p:cNvSpPr/>
          <p:nvPr/>
        </p:nvSpPr>
        <p:spPr>
          <a:xfrm>
            <a:off x="4754879" y="1463039"/>
            <a:ext cx="64009" cy="1508761"/>
          </a:xfrm>
          <a:prstGeom prst="rect">
            <a:avLst/>
          </a:prstGeom>
          <a:solidFill>
            <a:srgbClr val="2EC4B6"/>
          </a:solidFill>
          <a:ln w="12700">
            <a:miter lim="400000"/>
          </a:ln>
        </p:spPr>
        <p:txBody>
          <a:bodyPr lIns="45719" rIns="45719"/>
          <a:lstStyle/>
          <a:p>
            <a:pPr/>
          </a:p>
        </p:txBody>
      </p:sp>
      <p:sp>
        <p:nvSpPr>
          <p:cNvPr id="302" name="Text 9"/>
          <p:cNvSpPr txBox="1"/>
          <p:nvPr/>
        </p:nvSpPr>
        <p:spPr>
          <a:xfrm>
            <a:off x="4983479" y="1557020"/>
            <a:ext cx="1828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EC4B6"/>
                </a:solidFill>
                <a:latin typeface="Georgia"/>
                <a:ea typeface="Georgia"/>
                <a:cs typeface="Georgia"/>
                <a:sym typeface="Georgia"/>
              </a:defRPr>
            </a:lvl1pPr>
          </a:lstStyle>
          <a:p>
            <a:pPr/>
            <a:r>
              <a:t>Good Prompt</a:t>
            </a:r>
          </a:p>
        </p:txBody>
      </p:sp>
      <p:sp>
        <p:nvSpPr>
          <p:cNvPr id="303" name="Text 10"/>
          <p:cNvSpPr txBox="1"/>
          <p:nvPr/>
        </p:nvSpPr>
        <p:spPr>
          <a:xfrm>
            <a:off x="5029199" y="1928692"/>
            <a:ext cx="3291841" cy="80605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1A1A2E"/>
                </a:solidFill>
              </a:defRPr>
            </a:lvl1pPr>
          </a:lstStyle>
          <a:p>
            <a:pPr/>
            <a:r>
              <a:t>"You are a fundraising analyst for a golf charity. Analyze the donor CSV: top 10 by lifetime value, YoY retention rate, avg donation by quarter. Provide actionable recs for next year's outreach."</a:t>
            </a:r>
          </a:p>
        </p:txBody>
      </p:sp>
      <p:sp>
        <p:nvSpPr>
          <p:cNvPr id="304" name="Shape 11"/>
          <p:cNvSpPr/>
          <p:nvPr/>
        </p:nvSpPr>
        <p:spPr>
          <a:xfrm>
            <a:off x="548640" y="3200400"/>
            <a:ext cx="3840480" cy="1417320"/>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05" name="Shape 12"/>
          <p:cNvSpPr/>
          <p:nvPr/>
        </p:nvSpPr>
        <p:spPr>
          <a:xfrm>
            <a:off x="548640" y="3200400"/>
            <a:ext cx="64009" cy="1417320"/>
          </a:xfrm>
          <a:prstGeom prst="rect">
            <a:avLst/>
          </a:prstGeom>
          <a:solidFill>
            <a:srgbClr val="E63946"/>
          </a:solidFill>
          <a:ln w="12700">
            <a:miter lim="400000"/>
          </a:ln>
        </p:spPr>
        <p:txBody>
          <a:bodyPr lIns="45719" rIns="45719"/>
          <a:lstStyle/>
          <a:p>
            <a:pPr/>
          </a:p>
        </p:txBody>
      </p:sp>
      <p:sp>
        <p:nvSpPr>
          <p:cNvPr id="306" name="Text 13"/>
          <p:cNvSpPr txBox="1"/>
          <p:nvPr/>
        </p:nvSpPr>
        <p:spPr>
          <a:xfrm>
            <a:off x="777240" y="3294380"/>
            <a:ext cx="1828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E63946"/>
                </a:solidFill>
                <a:latin typeface="Georgia"/>
                <a:ea typeface="Georgia"/>
                <a:cs typeface="Georgia"/>
                <a:sym typeface="Georgia"/>
              </a:defRPr>
            </a:lvl1pPr>
          </a:lstStyle>
          <a:p>
            <a:pPr/>
            <a:r>
              <a:t>Bad Prompt</a:t>
            </a:r>
          </a:p>
        </p:txBody>
      </p:sp>
      <p:sp>
        <p:nvSpPr>
          <p:cNvPr id="307" name="Text 14"/>
          <p:cNvSpPr txBox="1"/>
          <p:nvPr/>
        </p:nvSpPr>
        <p:spPr>
          <a:xfrm>
            <a:off x="822960" y="3853487"/>
            <a:ext cx="329184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200">
                <a:solidFill>
                  <a:srgbClr val="5A6E80"/>
                </a:solidFill>
              </a:defRPr>
            </a:lvl1pPr>
          </a:lstStyle>
          <a:p>
            <a:pPr/>
            <a:r>
              <a:t>"Find trends in giving patterns"</a:t>
            </a:r>
          </a:p>
        </p:txBody>
      </p:sp>
      <p:sp>
        <p:nvSpPr>
          <p:cNvPr id="308" name="Shape 15"/>
          <p:cNvSpPr/>
          <p:nvPr/>
        </p:nvSpPr>
        <p:spPr>
          <a:xfrm>
            <a:off x="4754879" y="3200400"/>
            <a:ext cx="3840481" cy="1417320"/>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09" name="Shape 16"/>
          <p:cNvSpPr/>
          <p:nvPr/>
        </p:nvSpPr>
        <p:spPr>
          <a:xfrm>
            <a:off x="4754879" y="3200400"/>
            <a:ext cx="64009" cy="1417320"/>
          </a:xfrm>
          <a:prstGeom prst="rect">
            <a:avLst/>
          </a:prstGeom>
          <a:solidFill>
            <a:srgbClr val="2EC4B6"/>
          </a:solidFill>
          <a:ln w="12700">
            <a:miter lim="400000"/>
          </a:ln>
        </p:spPr>
        <p:txBody>
          <a:bodyPr lIns="45719" rIns="45719"/>
          <a:lstStyle/>
          <a:p>
            <a:pPr/>
          </a:p>
        </p:txBody>
      </p:sp>
      <p:sp>
        <p:nvSpPr>
          <p:cNvPr id="310" name="Text 17"/>
          <p:cNvSpPr txBox="1"/>
          <p:nvPr/>
        </p:nvSpPr>
        <p:spPr>
          <a:xfrm>
            <a:off x="4983479" y="3294380"/>
            <a:ext cx="1828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EC4B6"/>
                </a:solidFill>
                <a:latin typeface="Georgia"/>
                <a:ea typeface="Georgia"/>
                <a:cs typeface="Georgia"/>
                <a:sym typeface="Georgia"/>
              </a:defRPr>
            </a:lvl1pPr>
          </a:lstStyle>
          <a:p>
            <a:pPr/>
            <a:r>
              <a:t>Good Prompt</a:t>
            </a:r>
          </a:p>
        </p:txBody>
      </p:sp>
      <p:sp>
        <p:nvSpPr>
          <p:cNvPr id="311" name="Text 18"/>
          <p:cNvSpPr txBox="1"/>
          <p:nvPr/>
        </p:nvSpPr>
        <p:spPr>
          <a:xfrm>
            <a:off x="5029199" y="3620333"/>
            <a:ext cx="3291841" cy="8060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1A1A2E"/>
                </a:solidFill>
              </a:defRPr>
            </a:lvl1pPr>
          </a:lstStyle>
          <a:p>
            <a:pPr/>
            <a:r>
              <a:t>"Segment our 500 golf event donors into tiers (platinum &gt;$10K, gold $5-10K, silver &lt;$5K). For each tier: avg gift, frequency, lapsed %, and re-engagement strategy. Output as a table."</a:t>
            </a:r>
          </a:p>
        </p:txBody>
      </p:sp>
      <p:sp>
        <p:nvSpPr>
          <p:cNvPr id="312" name="Shape 19"/>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313" name="Text 20"/>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16 / 21</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315"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316" name="Text 1"/>
          <p:cNvSpPr txBox="1"/>
          <p:nvPr/>
        </p:nvSpPr>
        <p:spPr>
          <a:xfrm>
            <a:off x="548640" y="372110"/>
            <a:ext cx="82296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Georgia"/>
                <a:ea typeface="Georgia"/>
                <a:cs typeface="Georgia"/>
                <a:sym typeface="Georgia"/>
              </a:defRPr>
            </a:lvl1pPr>
          </a:lstStyle>
          <a:p>
            <a:pPr/>
            <a:r>
              <a:t>Introducing Claude</a:t>
            </a:r>
          </a:p>
        </p:txBody>
      </p:sp>
      <p:sp>
        <p:nvSpPr>
          <p:cNvPr id="317" name="Text 2"/>
          <p:cNvSpPr txBox="1"/>
          <p:nvPr/>
        </p:nvSpPr>
        <p:spPr>
          <a:xfrm>
            <a:off x="594360" y="8883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solidFill>
                  <a:srgbClr val="00B4D8"/>
                </a:solidFill>
              </a:defRPr>
            </a:lvl1pPr>
          </a:lstStyle>
          <a:p>
            <a:pPr/>
            <a:r>
              <a:t>Anthropic's AI assistant — built for safety, built for work</a:t>
            </a:r>
          </a:p>
        </p:txBody>
      </p:sp>
      <p:sp>
        <p:nvSpPr>
          <p:cNvPr id="318" name="Shape 3"/>
          <p:cNvSpPr/>
          <p:nvPr/>
        </p:nvSpPr>
        <p:spPr>
          <a:xfrm>
            <a:off x="548639" y="1463039"/>
            <a:ext cx="2560322" cy="210312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19" name="Shape 4"/>
          <p:cNvSpPr/>
          <p:nvPr/>
        </p:nvSpPr>
        <p:spPr>
          <a:xfrm>
            <a:off x="685800" y="1600200"/>
            <a:ext cx="914400" cy="228600"/>
          </a:xfrm>
          <a:prstGeom prst="rect">
            <a:avLst/>
          </a:prstGeom>
          <a:solidFill>
            <a:srgbClr val="00B4D8"/>
          </a:solidFill>
          <a:ln w="12700">
            <a:miter lim="400000"/>
          </a:ln>
        </p:spPr>
        <p:txBody>
          <a:bodyPr lIns="45719" rIns="45719"/>
          <a:lstStyle/>
          <a:p>
            <a:pPr/>
          </a:p>
        </p:txBody>
      </p:sp>
      <p:sp>
        <p:nvSpPr>
          <p:cNvPr id="320" name="Text 5"/>
          <p:cNvSpPr txBox="1"/>
          <p:nvPr/>
        </p:nvSpPr>
        <p:spPr>
          <a:xfrm>
            <a:off x="731519" y="1616491"/>
            <a:ext cx="8229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FFFFFF"/>
                </a:solidFill>
              </a:defRPr>
            </a:lvl1pPr>
          </a:lstStyle>
          <a:p>
            <a:pPr/>
            <a:r>
              <a:t>FLAGSHIP</a:t>
            </a:r>
          </a:p>
        </p:txBody>
      </p:sp>
      <p:sp>
        <p:nvSpPr>
          <p:cNvPr id="321" name="Text 6"/>
          <p:cNvSpPr txBox="1"/>
          <p:nvPr/>
        </p:nvSpPr>
        <p:spPr>
          <a:xfrm>
            <a:off x="685800" y="1969769"/>
            <a:ext cx="22860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latin typeface="Georgia"/>
                <a:ea typeface="Georgia"/>
                <a:cs typeface="Georgia"/>
                <a:sym typeface="Georgia"/>
              </a:defRPr>
            </a:lvl1pPr>
          </a:lstStyle>
          <a:p>
            <a:pPr/>
            <a:r>
              <a:t>Opus 4.6</a:t>
            </a:r>
          </a:p>
        </p:txBody>
      </p:sp>
      <p:sp>
        <p:nvSpPr>
          <p:cNvPr id="322" name="Text 7"/>
          <p:cNvSpPr txBox="1"/>
          <p:nvPr/>
        </p:nvSpPr>
        <p:spPr>
          <a:xfrm>
            <a:off x="731519" y="2436216"/>
            <a:ext cx="2194562" cy="4310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100">
                <a:solidFill>
                  <a:srgbClr val="E8EEF2"/>
                </a:solidFill>
              </a:defRPr>
            </a:lvl1pPr>
          </a:lstStyle>
          <a:p>
            <a:pPr/>
            <a:r>
              <a:t>Most capable. Complex reasoning, coding, analysis.</a:t>
            </a:r>
          </a:p>
        </p:txBody>
      </p:sp>
      <p:sp>
        <p:nvSpPr>
          <p:cNvPr id="323" name="Text 8"/>
          <p:cNvSpPr txBox="1"/>
          <p:nvPr/>
        </p:nvSpPr>
        <p:spPr>
          <a:xfrm>
            <a:off x="685800" y="3110406"/>
            <a:ext cx="22860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9A825"/>
                </a:solidFill>
              </a:defRPr>
            </a:lvl1pPr>
          </a:lstStyle>
          <a:p>
            <a:pPr/>
            <a:r>
              <a:t>$5 / $25 per M</a:t>
            </a:r>
          </a:p>
        </p:txBody>
      </p:sp>
      <p:sp>
        <p:nvSpPr>
          <p:cNvPr id="324" name="Shape 9"/>
          <p:cNvSpPr/>
          <p:nvPr/>
        </p:nvSpPr>
        <p:spPr>
          <a:xfrm>
            <a:off x="3383279" y="1463039"/>
            <a:ext cx="2560321" cy="210312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25" name="Shape 10"/>
          <p:cNvSpPr/>
          <p:nvPr/>
        </p:nvSpPr>
        <p:spPr>
          <a:xfrm>
            <a:off x="3520440" y="1600200"/>
            <a:ext cx="914401" cy="228600"/>
          </a:xfrm>
          <a:prstGeom prst="rect">
            <a:avLst/>
          </a:prstGeom>
          <a:solidFill>
            <a:srgbClr val="00B4D8"/>
          </a:solidFill>
          <a:ln w="12700">
            <a:miter lim="400000"/>
          </a:ln>
        </p:spPr>
        <p:txBody>
          <a:bodyPr lIns="45719" rIns="45719"/>
          <a:lstStyle/>
          <a:p>
            <a:pPr/>
          </a:p>
        </p:txBody>
      </p:sp>
      <p:sp>
        <p:nvSpPr>
          <p:cNvPr id="326" name="Text 11"/>
          <p:cNvSpPr txBox="1"/>
          <p:nvPr/>
        </p:nvSpPr>
        <p:spPr>
          <a:xfrm>
            <a:off x="3566160" y="1616491"/>
            <a:ext cx="82296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FFFFFF"/>
                </a:solidFill>
              </a:defRPr>
            </a:lvl1pPr>
          </a:lstStyle>
          <a:p>
            <a:pPr/>
            <a:r>
              <a:t>POPULAR</a:t>
            </a:r>
          </a:p>
        </p:txBody>
      </p:sp>
      <p:sp>
        <p:nvSpPr>
          <p:cNvPr id="327" name="Text 12"/>
          <p:cNvSpPr txBox="1"/>
          <p:nvPr/>
        </p:nvSpPr>
        <p:spPr>
          <a:xfrm>
            <a:off x="3520440" y="1969769"/>
            <a:ext cx="22860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latin typeface="Georgia"/>
                <a:ea typeface="Georgia"/>
                <a:cs typeface="Georgia"/>
                <a:sym typeface="Georgia"/>
              </a:defRPr>
            </a:lvl1pPr>
          </a:lstStyle>
          <a:p>
            <a:pPr/>
            <a:r>
              <a:t>Sonnet 4.6</a:t>
            </a:r>
          </a:p>
        </p:txBody>
      </p:sp>
      <p:sp>
        <p:nvSpPr>
          <p:cNvPr id="328" name="Text 13"/>
          <p:cNvSpPr txBox="1"/>
          <p:nvPr/>
        </p:nvSpPr>
        <p:spPr>
          <a:xfrm>
            <a:off x="3566160" y="2436216"/>
            <a:ext cx="2194561" cy="4310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100">
                <a:solidFill>
                  <a:srgbClr val="E8EEF2"/>
                </a:solidFill>
              </a:defRPr>
            </a:lvl1pPr>
          </a:lstStyle>
          <a:p>
            <a:pPr/>
            <a:r>
              <a:t>Balanced speed + quality. 1M context beta.</a:t>
            </a:r>
          </a:p>
        </p:txBody>
      </p:sp>
      <p:sp>
        <p:nvSpPr>
          <p:cNvPr id="329" name="Text 14"/>
          <p:cNvSpPr txBox="1"/>
          <p:nvPr/>
        </p:nvSpPr>
        <p:spPr>
          <a:xfrm>
            <a:off x="3520440" y="3110406"/>
            <a:ext cx="2286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9A825"/>
                </a:solidFill>
              </a:defRPr>
            </a:lvl1pPr>
          </a:lstStyle>
          <a:p>
            <a:pPr/>
            <a:r>
              <a:t>$3 / $15 per M</a:t>
            </a:r>
          </a:p>
        </p:txBody>
      </p:sp>
      <p:sp>
        <p:nvSpPr>
          <p:cNvPr id="330" name="Shape 15"/>
          <p:cNvSpPr/>
          <p:nvPr/>
        </p:nvSpPr>
        <p:spPr>
          <a:xfrm>
            <a:off x="6217920" y="1463039"/>
            <a:ext cx="2560321" cy="2103121"/>
          </a:xfrm>
          <a:prstGeom prst="rect">
            <a:avLst/>
          </a:prstGeom>
          <a:solidFill>
            <a:srgbClr val="0F1B2D"/>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31" name="Shape 16"/>
          <p:cNvSpPr/>
          <p:nvPr/>
        </p:nvSpPr>
        <p:spPr>
          <a:xfrm>
            <a:off x="6355079" y="1600200"/>
            <a:ext cx="914401" cy="228600"/>
          </a:xfrm>
          <a:prstGeom prst="rect">
            <a:avLst/>
          </a:prstGeom>
          <a:solidFill>
            <a:srgbClr val="00B4D8"/>
          </a:solidFill>
          <a:ln w="12700">
            <a:miter lim="400000"/>
          </a:ln>
        </p:spPr>
        <p:txBody>
          <a:bodyPr lIns="45719" rIns="45719"/>
          <a:lstStyle/>
          <a:p>
            <a:pPr/>
          </a:p>
        </p:txBody>
      </p:sp>
      <p:sp>
        <p:nvSpPr>
          <p:cNvPr id="332" name="Text 17"/>
          <p:cNvSpPr txBox="1"/>
          <p:nvPr/>
        </p:nvSpPr>
        <p:spPr>
          <a:xfrm>
            <a:off x="6400799" y="1616491"/>
            <a:ext cx="82296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FFFFFF"/>
                </a:solidFill>
              </a:defRPr>
            </a:lvl1pPr>
          </a:lstStyle>
          <a:p>
            <a:pPr/>
            <a:r>
              <a:t>FAST</a:t>
            </a:r>
          </a:p>
        </p:txBody>
      </p:sp>
      <p:sp>
        <p:nvSpPr>
          <p:cNvPr id="333" name="Text 18"/>
          <p:cNvSpPr txBox="1"/>
          <p:nvPr/>
        </p:nvSpPr>
        <p:spPr>
          <a:xfrm>
            <a:off x="6355079" y="1969769"/>
            <a:ext cx="22860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latin typeface="Georgia"/>
                <a:ea typeface="Georgia"/>
                <a:cs typeface="Georgia"/>
                <a:sym typeface="Georgia"/>
              </a:defRPr>
            </a:lvl1pPr>
          </a:lstStyle>
          <a:p>
            <a:pPr/>
            <a:r>
              <a:t>Haiku 4.5</a:t>
            </a:r>
          </a:p>
        </p:txBody>
      </p:sp>
      <p:sp>
        <p:nvSpPr>
          <p:cNvPr id="334" name="Text 19"/>
          <p:cNvSpPr txBox="1"/>
          <p:nvPr/>
        </p:nvSpPr>
        <p:spPr>
          <a:xfrm>
            <a:off x="6400799" y="2436216"/>
            <a:ext cx="2194561" cy="4310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100">
                <a:solidFill>
                  <a:srgbClr val="E8EEF2"/>
                </a:solidFill>
              </a:defRPr>
            </a:lvl1pPr>
          </a:lstStyle>
          <a:p>
            <a:pPr/>
            <a:r>
              <a:t>Fast + affordable. Quick tasks, classification.</a:t>
            </a:r>
          </a:p>
        </p:txBody>
      </p:sp>
      <p:sp>
        <p:nvSpPr>
          <p:cNvPr id="335" name="Text 20"/>
          <p:cNvSpPr txBox="1"/>
          <p:nvPr/>
        </p:nvSpPr>
        <p:spPr>
          <a:xfrm>
            <a:off x="6355079" y="3110406"/>
            <a:ext cx="2286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9A825"/>
                </a:solidFill>
              </a:defRPr>
            </a:lvl1pPr>
          </a:lstStyle>
          <a:p>
            <a:pPr/>
            <a:r>
              <a:t>$0.25 / $1.25 per M</a:t>
            </a:r>
          </a:p>
        </p:txBody>
      </p:sp>
      <p:pic>
        <p:nvPicPr>
          <p:cNvPr id="336" name="Image 0" descr="Image 0"/>
          <p:cNvPicPr>
            <a:picLocks noChangeAspect="1"/>
          </p:cNvPicPr>
          <p:nvPr/>
        </p:nvPicPr>
        <p:blipFill>
          <a:blip r:embed="rId2">
            <a:extLst/>
          </a:blip>
          <a:stretch>
            <a:fillRect/>
          </a:stretch>
        </p:blipFill>
        <p:spPr>
          <a:xfrm>
            <a:off x="548640" y="3840479"/>
            <a:ext cx="274321" cy="274321"/>
          </a:xfrm>
          <a:prstGeom prst="rect">
            <a:avLst/>
          </a:prstGeom>
          <a:ln w="12700">
            <a:miter lim="400000"/>
          </a:ln>
        </p:spPr>
      </p:pic>
      <p:sp>
        <p:nvSpPr>
          <p:cNvPr id="337" name="Text 21"/>
          <p:cNvSpPr txBox="1"/>
          <p:nvPr/>
        </p:nvSpPr>
        <p:spPr>
          <a:xfrm>
            <a:off x="914399" y="3817664"/>
            <a:ext cx="164592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FFFFF"/>
                </a:solidFill>
              </a:defRPr>
            </a:lvl1pPr>
          </a:lstStyle>
          <a:p>
            <a:pPr/>
            <a:r>
              <a:t>Cowork Mode</a:t>
            </a:r>
          </a:p>
        </p:txBody>
      </p:sp>
      <p:sp>
        <p:nvSpPr>
          <p:cNvPr id="338" name="Text 22"/>
          <p:cNvSpPr txBox="1"/>
          <p:nvPr/>
        </p:nvSpPr>
        <p:spPr>
          <a:xfrm>
            <a:off x="914399" y="3964853"/>
            <a:ext cx="1645922"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5A6E80"/>
                </a:solidFill>
              </a:defRPr>
            </a:lvl1pPr>
          </a:lstStyle>
          <a:p>
            <a:pPr/>
            <a:r>
              <a:t>File agent — works on your computer</a:t>
            </a:r>
          </a:p>
        </p:txBody>
      </p:sp>
      <p:pic>
        <p:nvPicPr>
          <p:cNvPr id="339" name="Image 1" descr="Image 1"/>
          <p:cNvPicPr>
            <a:picLocks noChangeAspect="1"/>
          </p:cNvPicPr>
          <p:nvPr/>
        </p:nvPicPr>
        <p:blipFill>
          <a:blip r:embed="rId3">
            <a:extLst/>
          </a:blip>
          <a:stretch>
            <a:fillRect/>
          </a:stretch>
        </p:blipFill>
        <p:spPr>
          <a:xfrm>
            <a:off x="2697479" y="3840479"/>
            <a:ext cx="274321" cy="274321"/>
          </a:xfrm>
          <a:prstGeom prst="rect">
            <a:avLst/>
          </a:prstGeom>
          <a:ln w="12700">
            <a:miter lim="400000"/>
          </a:ln>
        </p:spPr>
      </p:pic>
      <p:sp>
        <p:nvSpPr>
          <p:cNvPr id="340" name="Text 23"/>
          <p:cNvSpPr txBox="1"/>
          <p:nvPr/>
        </p:nvSpPr>
        <p:spPr>
          <a:xfrm>
            <a:off x="3063239" y="3817664"/>
            <a:ext cx="16459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FFFFF"/>
                </a:solidFill>
              </a:defRPr>
            </a:lvl1pPr>
          </a:lstStyle>
          <a:p>
            <a:pPr/>
            <a:r>
              <a:t>Memory</a:t>
            </a:r>
          </a:p>
        </p:txBody>
      </p:sp>
      <p:sp>
        <p:nvSpPr>
          <p:cNvPr id="341" name="Text 24"/>
          <p:cNvSpPr txBox="1"/>
          <p:nvPr/>
        </p:nvSpPr>
        <p:spPr>
          <a:xfrm>
            <a:off x="3063239" y="3964853"/>
            <a:ext cx="1645921"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5A6E80"/>
                </a:solidFill>
              </a:defRPr>
            </a:lvl1pPr>
          </a:lstStyle>
          <a:p>
            <a:pPr/>
            <a:r>
              <a:t>Remembers your preferences across sessions</a:t>
            </a:r>
          </a:p>
        </p:txBody>
      </p:sp>
      <p:pic>
        <p:nvPicPr>
          <p:cNvPr id="342" name="Image 2" descr="Image 2"/>
          <p:cNvPicPr>
            <a:picLocks noChangeAspect="1"/>
          </p:cNvPicPr>
          <p:nvPr/>
        </p:nvPicPr>
        <p:blipFill>
          <a:blip r:embed="rId4">
            <a:extLst/>
          </a:blip>
          <a:stretch>
            <a:fillRect/>
          </a:stretch>
        </p:blipFill>
        <p:spPr>
          <a:xfrm>
            <a:off x="4846320" y="3840479"/>
            <a:ext cx="274321" cy="274321"/>
          </a:xfrm>
          <a:prstGeom prst="rect">
            <a:avLst/>
          </a:prstGeom>
          <a:ln w="12700">
            <a:miter lim="400000"/>
          </a:ln>
        </p:spPr>
      </p:pic>
      <p:sp>
        <p:nvSpPr>
          <p:cNvPr id="343" name="Text 25"/>
          <p:cNvSpPr txBox="1"/>
          <p:nvPr/>
        </p:nvSpPr>
        <p:spPr>
          <a:xfrm>
            <a:off x="5212079" y="3817664"/>
            <a:ext cx="16459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FFFFF"/>
                </a:solidFill>
              </a:defRPr>
            </a:lvl1pPr>
          </a:lstStyle>
          <a:p>
            <a:pPr/>
            <a:r>
              <a:t>Chrome Extension</a:t>
            </a:r>
          </a:p>
        </p:txBody>
      </p:sp>
      <p:sp>
        <p:nvSpPr>
          <p:cNvPr id="344" name="Text 26"/>
          <p:cNvSpPr txBox="1"/>
          <p:nvPr/>
        </p:nvSpPr>
        <p:spPr>
          <a:xfrm>
            <a:off x="5212079" y="3964853"/>
            <a:ext cx="1645921"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5A6E80"/>
                </a:solidFill>
              </a:defRPr>
            </a:lvl1pPr>
          </a:lstStyle>
          <a:p>
            <a:pPr/>
            <a:r>
              <a:t>Reads web pages, debugs, automates</a:t>
            </a:r>
          </a:p>
        </p:txBody>
      </p:sp>
      <p:pic>
        <p:nvPicPr>
          <p:cNvPr id="345" name="Image 3" descr="Image 3"/>
          <p:cNvPicPr>
            <a:picLocks noChangeAspect="1"/>
          </p:cNvPicPr>
          <p:nvPr/>
        </p:nvPicPr>
        <p:blipFill>
          <a:blip r:embed="rId5">
            <a:extLst/>
          </a:blip>
          <a:stretch>
            <a:fillRect/>
          </a:stretch>
        </p:blipFill>
        <p:spPr>
          <a:xfrm>
            <a:off x="6995159" y="3840479"/>
            <a:ext cx="274321" cy="274321"/>
          </a:xfrm>
          <a:prstGeom prst="rect">
            <a:avLst/>
          </a:prstGeom>
          <a:ln w="12700">
            <a:miter lim="400000"/>
          </a:ln>
        </p:spPr>
      </p:pic>
      <p:sp>
        <p:nvSpPr>
          <p:cNvPr id="346" name="Text 27"/>
          <p:cNvSpPr txBox="1"/>
          <p:nvPr/>
        </p:nvSpPr>
        <p:spPr>
          <a:xfrm>
            <a:off x="7360919" y="3817664"/>
            <a:ext cx="16459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FFFFF"/>
                </a:solidFill>
              </a:defRPr>
            </a:lvl1pPr>
          </a:lstStyle>
          <a:p>
            <a:pPr/>
            <a:r>
              <a:t>Code Generation</a:t>
            </a:r>
          </a:p>
        </p:txBody>
      </p:sp>
      <p:sp>
        <p:nvSpPr>
          <p:cNvPr id="347" name="Text 28"/>
          <p:cNvSpPr txBox="1"/>
          <p:nvPr/>
        </p:nvSpPr>
        <p:spPr>
          <a:xfrm>
            <a:off x="7360919" y="4028440"/>
            <a:ext cx="16459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5A6E80"/>
                </a:solidFill>
              </a:defRPr>
            </a:lvl1pPr>
          </a:lstStyle>
          <a:p>
            <a:pPr/>
            <a:r>
              <a:t>Write, test, deploy code from chat</a:t>
            </a:r>
          </a:p>
        </p:txBody>
      </p:sp>
      <p:sp>
        <p:nvSpPr>
          <p:cNvPr id="348" name="Shape 29"/>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349" name="Text 30"/>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17 / 21</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351" name="Shape 0"/>
          <p:cNvSpPr/>
          <p:nvPr/>
        </p:nvSpPr>
        <p:spPr>
          <a:xfrm>
            <a:off x="548640" y="320040"/>
            <a:ext cx="2011679" cy="292609"/>
          </a:xfrm>
          <a:prstGeom prst="rect">
            <a:avLst/>
          </a:prstGeom>
          <a:solidFill>
            <a:srgbClr val="1C7293"/>
          </a:solidFill>
          <a:ln w="12700">
            <a:miter lim="400000"/>
          </a:ln>
        </p:spPr>
        <p:txBody>
          <a:bodyPr lIns="45719" rIns="45719"/>
          <a:lstStyle/>
          <a:p>
            <a:pPr/>
          </a:p>
        </p:txBody>
      </p:sp>
      <p:sp>
        <p:nvSpPr>
          <p:cNvPr id="352" name="Text 1"/>
          <p:cNvSpPr txBox="1"/>
          <p:nvPr/>
        </p:nvSpPr>
        <p:spPr>
          <a:xfrm>
            <a:off x="594360" y="352088"/>
            <a:ext cx="192023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CLAUDE SKILLS</a:t>
            </a:r>
          </a:p>
        </p:txBody>
      </p:sp>
      <p:sp>
        <p:nvSpPr>
          <p:cNvPr id="353"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Skills: Claude's Modular Toolkits</a:t>
            </a:r>
          </a:p>
        </p:txBody>
      </p:sp>
      <p:sp>
        <p:nvSpPr>
          <p:cNvPr id="354" name="Shape 3"/>
          <p:cNvSpPr/>
          <p:nvPr/>
        </p:nvSpPr>
        <p:spPr>
          <a:xfrm>
            <a:off x="548640" y="1463039"/>
            <a:ext cx="8229601" cy="91440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55" name="Shape 4"/>
          <p:cNvSpPr/>
          <p:nvPr/>
        </p:nvSpPr>
        <p:spPr>
          <a:xfrm>
            <a:off x="548640" y="1463039"/>
            <a:ext cx="64009" cy="914401"/>
          </a:xfrm>
          <a:prstGeom prst="rect">
            <a:avLst/>
          </a:prstGeom>
          <a:solidFill>
            <a:srgbClr val="1C7293"/>
          </a:solidFill>
          <a:ln w="12700">
            <a:miter lim="400000"/>
          </a:ln>
        </p:spPr>
        <p:txBody>
          <a:bodyPr lIns="45719" rIns="45719"/>
          <a:lstStyle/>
          <a:p>
            <a:pPr/>
          </a:p>
        </p:txBody>
      </p:sp>
      <p:pic>
        <p:nvPicPr>
          <p:cNvPr id="356" name="Image 0" descr="Image 0"/>
          <p:cNvPicPr>
            <a:picLocks noChangeAspect="1"/>
          </p:cNvPicPr>
          <p:nvPr/>
        </p:nvPicPr>
        <p:blipFill>
          <a:blip r:embed="rId2">
            <a:extLst/>
          </a:blip>
          <a:stretch>
            <a:fillRect/>
          </a:stretch>
        </p:blipFill>
        <p:spPr>
          <a:xfrm>
            <a:off x="822960" y="1554480"/>
            <a:ext cx="320041" cy="320041"/>
          </a:xfrm>
          <a:prstGeom prst="rect">
            <a:avLst/>
          </a:prstGeom>
          <a:ln w="12700">
            <a:miter lim="400000"/>
          </a:ln>
        </p:spPr>
      </p:pic>
      <p:sp>
        <p:nvSpPr>
          <p:cNvPr id="357" name="Text 5"/>
          <p:cNvSpPr txBox="1"/>
          <p:nvPr/>
        </p:nvSpPr>
        <p:spPr>
          <a:xfrm>
            <a:off x="1280160" y="1606550"/>
            <a:ext cx="2743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C7293"/>
                </a:solidFill>
                <a:latin typeface="Georgia"/>
                <a:ea typeface="Georgia"/>
                <a:cs typeface="Georgia"/>
                <a:sym typeface="Georgia"/>
              </a:defRPr>
            </a:lvl1pPr>
          </a:lstStyle>
          <a:p>
            <a:pPr/>
            <a:r>
              <a:t>What are Skills?</a:t>
            </a:r>
          </a:p>
        </p:txBody>
      </p:sp>
      <p:sp>
        <p:nvSpPr>
          <p:cNvPr id="358" name="Text 6"/>
          <p:cNvSpPr txBox="1"/>
          <p:nvPr/>
        </p:nvSpPr>
        <p:spPr>
          <a:xfrm>
            <a:off x="868680" y="1868031"/>
            <a:ext cx="7589520" cy="47017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200">
                <a:solidFill>
                  <a:srgbClr val="1A1A2E"/>
                </a:solidFill>
              </a:defRPr>
            </a:lvl1pPr>
          </a:lstStyle>
          <a:p>
            <a:pPr/>
            <a:r>
              <a:t>Reusable instruction packages that teach Claude how to complete specialized tasks. They encapsulate workflows, domain expertise, scripts, and best practices into modular, shareable toolkits.</a:t>
            </a:r>
          </a:p>
        </p:txBody>
      </p:sp>
      <p:sp>
        <p:nvSpPr>
          <p:cNvPr id="359" name="Shape 7"/>
          <p:cNvSpPr/>
          <p:nvPr/>
        </p:nvSpPr>
        <p:spPr>
          <a:xfrm>
            <a:off x="548640" y="2651760"/>
            <a:ext cx="3840480" cy="8229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360" name="Image 1" descr="Image 1"/>
          <p:cNvPicPr>
            <a:picLocks noChangeAspect="1"/>
          </p:cNvPicPr>
          <p:nvPr/>
        </p:nvPicPr>
        <p:blipFill>
          <a:blip r:embed="rId2">
            <a:extLst/>
          </a:blip>
          <a:stretch>
            <a:fillRect/>
          </a:stretch>
        </p:blipFill>
        <p:spPr>
          <a:xfrm>
            <a:off x="685800" y="2834639"/>
            <a:ext cx="365760" cy="365761"/>
          </a:xfrm>
          <a:prstGeom prst="rect">
            <a:avLst/>
          </a:prstGeom>
          <a:ln w="12700">
            <a:miter lim="400000"/>
          </a:ln>
        </p:spPr>
      </p:pic>
      <p:sp>
        <p:nvSpPr>
          <p:cNvPr id="361" name="Text 8"/>
          <p:cNvSpPr txBox="1"/>
          <p:nvPr/>
        </p:nvSpPr>
        <p:spPr>
          <a:xfrm>
            <a:off x="1188719" y="2785110"/>
            <a:ext cx="292608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A2E"/>
                </a:solidFill>
                <a:latin typeface="Georgia"/>
                <a:ea typeface="Georgia"/>
                <a:cs typeface="Georgia"/>
                <a:sym typeface="Georgia"/>
              </a:defRPr>
            </a:lvl1pPr>
          </a:lstStyle>
          <a:p>
            <a:pPr/>
            <a:r>
              <a:t>Document Skills</a:t>
            </a:r>
          </a:p>
        </p:txBody>
      </p:sp>
      <p:sp>
        <p:nvSpPr>
          <p:cNvPr id="362" name="Text 9"/>
          <p:cNvSpPr txBox="1"/>
          <p:nvPr/>
        </p:nvSpPr>
        <p:spPr>
          <a:xfrm>
            <a:off x="1188719" y="3073576"/>
            <a:ext cx="292608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PPTX, DOCX, PDF, XLSX creation with professional formatting</a:t>
            </a:r>
          </a:p>
        </p:txBody>
      </p:sp>
      <p:sp>
        <p:nvSpPr>
          <p:cNvPr id="363" name="Shape 10"/>
          <p:cNvSpPr/>
          <p:nvPr/>
        </p:nvSpPr>
        <p:spPr>
          <a:xfrm>
            <a:off x="4754879" y="2651760"/>
            <a:ext cx="3840481" cy="8229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364" name="Image 2" descr="Image 2"/>
          <p:cNvPicPr>
            <a:picLocks noChangeAspect="1"/>
          </p:cNvPicPr>
          <p:nvPr/>
        </p:nvPicPr>
        <p:blipFill>
          <a:blip r:embed="rId3">
            <a:extLst/>
          </a:blip>
          <a:stretch>
            <a:fillRect/>
          </a:stretch>
        </p:blipFill>
        <p:spPr>
          <a:xfrm>
            <a:off x="4892040" y="2834639"/>
            <a:ext cx="365761" cy="365761"/>
          </a:xfrm>
          <a:prstGeom prst="rect">
            <a:avLst/>
          </a:prstGeom>
          <a:ln w="12700">
            <a:miter lim="400000"/>
          </a:ln>
        </p:spPr>
      </p:pic>
      <p:sp>
        <p:nvSpPr>
          <p:cNvPr id="365" name="Text 11"/>
          <p:cNvSpPr txBox="1"/>
          <p:nvPr/>
        </p:nvSpPr>
        <p:spPr>
          <a:xfrm>
            <a:off x="5394959" y="2785110"/>
            <a:ext cx="29260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A2E"/>
                </a:solidFill>
                <a:latin typeface="Georgia"/>
                <a:ea typeface="Georgia"/>
                <a:cs typeface="Georgia"/>
                <a:sym typeface="Georgia"/>
              </a:defRPr>
            </a:lvl1pPr>
          </a:lstStyle>
          <a:p>
            <a:pPr/>
            <a:r>
              <a:t>Design Skills</a:t>
            </a:r>
          </a:p>
        </p:txBody>
      </p:sp>
      <p:sp>
        <p:nvSpPr>
          <p:cNvPr id="366" name="Text 12"/>
          <p:cNvSpPr txBox="1"/>
          <p:nvPr/>
        </p:nvSpPr>
        <p:spPr>
          <a:xfrm>
            <a:off x="5394959" y="3156126"/>
            <a:ext cx="292608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Canvas design, theme factory, web artifacts</a:t>
            </a:r>
          </a:p>
        </p:txBody>
      </p:sp>
      <p:sp>
        <p:nvSpPr>
          <p:cNvPr id="367" name="Shape 13"/>
          <p:cNvSpPr/>
          <p:nvPr/>
        </p:nvSpPr>
        <p:spPr>
          <a:xfrm>
            <a:off x="548640" y="3703320"/>
            <a:ext cx="3840480" cy="8229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368" name="Image 3" descr="Image 3"/>
          <p:cNvPicPr>
            <a:picLocks noChangeAspect="1"/>
          </p:cNvPicPr>
          <p:nvPr/>
        </p:nvPicPr>
        <p:blipFill>
          <a:blip r:embed="rId4">
            <a:extLst/>
          </a:blip>
          <a:stretch>
            <a:fillRect/>
          </a:stretch>
        </p:blipFill>
        <p:spPr>
          <a:xfrm>
            <a:off x="685800" y="3886200"/>
            <a:ext cx="365760" cy="365760"/>
          </a:xfrm>
          <a:prstGeom prst="rect">
            <a:avLst/>
          </a:prstGeom>
          <a:ln w="12700">
            <a:miter lim="400000"/>
          </a:ln>
        </p:spPr>
      </p:pic>
      <p:sp>
        <p:nvSpPr>
          <p:cNvPr id="369" name="Text 14"/>
          <p:cNvSpPr txBox="1"/>
          <p:nvPr/>
        </p:nvSpPr>
        <p:spPr>
          <a:xfrm>
            <a:off x="1188719" y="3836669"/>
            <a:ext cx="292608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A2E"/>
                </a:solidFill>
                <a:latin typeface="Georgia"/>
                <a:ea typeface="Georgia"/>
                <a:cs typeface="Georgia"/>
                <a:sym typeface="Georgia"/>
              </a:defRPr>
            </a:lvl1pPr>
          </a:lstStyle>
          <a:p>
            <a:pPr/>
            <a:r>
              <a:t>Automation Skills</a:t>
            </a:r>
          </a:p>
        </p:txBody>
      </p:sp>
      <p:sp>
        <p:nvSpPr>
          <p:cNvPr id="370" name="Text 15"/>
          <p:cNvSpPr txBox="1"/>
          <p:nvPr/>
        </p:nvSpPr>
        <p:spPr>
          <a:xfrm>
            <a:off x="1188719" y="4207686"/>
            <a:ext cx="29260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Scheduling, data processing, workflow automation</a:t>
            </a:r>
          </a:p>
        </p:txBody>
      </p:sp>
      <p:sp>
        <p:nvSpPr>
          <p:cNvPr id="371" name="Shape 16"/>
          <p:cNvSpPr/>
          <p:nvPr/>
        </p:nvSpPr>
        <p:spPr>
          <a:xfrm>
            <a:off x="4754879" y="3703320"/>
            <a:ext cx="3840481" cy="82296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pic>
        <p:nvPicPr>
          <p:cNvPr id="372" name="Image 4" descr="Image 4"/>
          <p:cNvPicPr>
            <a:picLocks noChangeAspect="1"/>
          </p:cNvPicPr>
          <p:nvPr/>
        </p:nvPicPr>
        <p:blipFill>
          <a:blip r:embed="rId5">
            <a:extLst/>
          </a:blip>
          <a:stretch>
            <a:fillRect/>
          </a:stretch>
        </p:blipFill>
        <p:spPr>
          <a:xfrm>
            <a:off x="4892040" y="3886200"/>
            <a:ext cx="365761" cy="365760"/>
          </a:xfrm>
          <a:prstGeom prst="rect">
            <a:avLst/>
          </a:prstGeom>
          <a:ln w="12700">
            <a:miter lim="400000"/>
          </a:ln>
        </p:spPr>
      </p:pic>
      <p:sp>
        <p:nvSpPr>
          <p:cNvPr id="373" name="Text 17"/>
          <p:cNvSpPr txBox="1"/>
          <p:nvPr/>
        </p:nvSpPr>
        <p:spPr>
          <a:xfrm>
            <a:off x="5394959" y="3836669"/>
            <a:ext cx="29260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A2E"/>
                </a:solidFill>
                <a:latin typeface="Georgia"/>
                <a:ea typeface="Georgia"/>
                <a:cs typeface="Georgia"/>
                <a:sym typeface="Georgia"/>
              </a:defRPr>
            </a:lvl1pPr>
          </a:lstStyle>
          <a:p>
            <a:pPr/>
            <a:r>
              <a:t>Custom Skills</a:t>
            </a:r>
          </a:p>
        </p:txBody>
      </p:sp>
      <p:sp>
        <p:nvSpPr>
          <p:cNvPr id="374" name="Text 18"/>
          <p:cNvSpPr txBox="1"/>
          <p:nvPr/>
        </p:nvSpPr>
        <p:spPr>
          <a:xfrm>
            <a:off x="5394959" y="4125136"/>
            <a:ext cx="292608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Build your own for golf reports, donor analysis, event planning</a:t>
            </a:r>
          </a:p>
        </p:txBody>
      </p:sp>
      <p:sp>
        <p:nvSpPr>
          <p:cNvPr id="375" name="Shape 19"/>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376" name="Text 20"/>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18 / 21</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8"/>
        </a:solidFill>
      </p:bgPr>
    </p:bg>
    <p:spTree>
      <p:nvGrpSpPr>
        <p:cNvPr id="1" name=""/>
        <p:cNvGrpSpPr/>
        <p:nvPr/>
      </p:nvGrpSpPr>
      <p:grpSpPr>
        <a:xfrm>
          <a:off x="0" y="0"/>
          <a:ext cx="0" cy="0"/>
          <a:chOff x="0" y="0"/>
          <a:chExt cx="0" cy="0"/>
        </a:xfrm>
      </p:grpSpPr>
      <p:sp>
        <p:nvSpPr>
          <p:cNvPr id="378" name="Shape 0"/>
          <p:cNvSpPr/>
          <p:nvPr/>
        </p:nvSpPr>
        <p:spPr>
          <a:xfrm>
            <a:off x="548640" y="320040"/>
            <a:ext cx="2286001" cy="292609"/>
          </a:xfrm>
          <a:prstGeom prst="rect">
            <a:avLst/>
          </a:prstGeom>
          <a:solidFill>
            <a:srgbClr val="1C7293"/>
          </a:solidFill>
          <a:ln w="12700">
            <a:miter lim="400000"/>
          </a:ln>
        </p:spPr>
        <p:txBody>
          <a:bodyPr lIns="45719" rIns="45719"/>
          <a:lstStyle/>
          <a:p>
            <a:pPr/>
          </a:p>
        </p:txBody>
      </p:sp>
      <p:sp>
        <p:nvSpPr>
          <p:cNvPr id="379" name="Text 1"/>
          <p:cNvSpPr txBox="1"/>
          <p:nvPr/>
        </p:nvSpPr>
        <p:spPr>
          <a:xfrm>
            <a:off x="594360" y="352088"/>
            <a:ext cx="2194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BUILD YOUR OWN</a:t>
            </a:r>
          </a:p>
        </p:txBody>
      </p:sp>
      <p:sp>
        <p:nvSpPr>
          <p:cNvPr id="380" name="Text 2"/>
          <p:cNvSpPr txBox="1"/>
          <p:nvPr/>
        </p:nvSpPr>
        <p:spPr>
          <a:xfrm>
            <a:off x="548640" y="848360"/>
            <a:ext cx="82296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1A2E"/>
                </a:solidFill>
                <a:latin typeface="Georgia"/>
                <a:ea typeface="Georgia"/>
                <a:cs typeface="Georgia"/>
                <a:sym typeface="Georgia"/>
              </a:defRPr>
            </a:lvl1pPr>
          </a:lstStyle>
          <a:p>
            <a:pPr/>
            <a:r>
              <a:t>Creating Skills in Claude</a:t>
            </a:r>
          </a:p>
        </p:txBody>
      </p:sp>
      <p:sp>
        <p:nvSpPr>
          <p:cNvPr id="381" name="Shape 3"/>
          <p:cNvSpPr/>
          <p:nvPr/>
        </p:nvSpPr>
        <p:spPr>
          <a:xfrm>
            <a:off x="548640" y="1508760"/>
            <a:ext cx="8229601" cy="64008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82" name="Shape 4"/>
          <p:cNvSpPr/>
          <p:nvPr/>
        </p:nvSpPr>
        <p:spPr>
          <a:xfrm>
            <a:off x="731519" y="1600200"/>
            <a:ext cx="457201" cy="457200"/>
          </a:xfrm>
          <a:prstGeom prst="ellipse">
            <a:avLst/>
          </a:prstGeom>
          <a:solidFill>
            <a:srgbClr val="1C7293"/>
          </a:solidFill>
          <a:ln w="12700">
            <a:miter lim="400000"/>
          </a:ln>
        </p:spPr>
        <p:txBody>
          <a:bodyPr lIns="45719" rIns="45719"/>
          <a:lstStyle/>
          <a:p>
            <a:pPr/>
          </a:p>
        </p:txBody>
      </p:sp>
      <p:sp>
        <p:nvSpPr>
          <p:cNvPr id="383" name="Text 5"/>
          <p:cNvSpPr txBox="1"/>
          <p:nvPr/>
        </p:nvSpPr>
        <p:spPr>
          <a:xfrm>
            <a:off x="777239" y="1681479"/>
            <a:ext cx="365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01</a:t>
            </a:r>
          </a:p>
        </p:txBody>
      </p:sp>
      <p:sp>
        <p:nvSpPr>
          <p:cNvPr id="384" name="Text 6"/>
          <p:cNvSpPr txBox="1"/>
          <p:nvPr/>
        </p:nvSpPr>
        <p:spPr>
          <a:xfrm>
            <a:off x="1371600" y="1617471"/>
            <a:ext cx="2743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Define the Task</a:t>
            </a:r>
          </a:p>
        </p:txBody>
      </p:sp>
      <p:sp>
        <p:nvSpPr>
          <p:cNvPr id="385" name="Text 7"/>
          <p:cNvSpPr txBox="1"/>
          <p:nvPr/>
        </p:nvSpPr>
        <p:spPr>
          <a:xfrm>
            <a:off x="1371600" y="1917114"/>
            <a:ext cx="713231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Identify a repeatable workflow. E.g., "Golf Tournament Report Generator"</a:t>
            </a:r>
          </a:p>
        </p:txBody>
      </p:sp>
      <p:sp>
        <p:nvSpPr>
          <p:cNvPr id="386" name="Shape 8"/>
          <p:cNvSpPr/>
          <p:nvPr/>
        </p:nvSpPr>
        <p:spPr>
          <a:xfrm>
            <a:off x="548640" y="2285999"/>
            <a:ext cx="8229601" cy="640082"/>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87" name="Shape 9"/>
          <p:cNvSpPr/>
          <p:nvPr/>
        </p:nvSpPr>
        <p:spPr>
          <a:xfrm>
            <a:off x="731519" y="2377439"/>
            <a:ext cx="457201" cy="457201"/>
          </a:xfrm>
          <a:prstGeom prst="ellipse">
            <a:avLst/>
          </a:prstGeom>
          <a:solidFill>
            <a:srgbClr val="1C7293"/>
          </a:solidFill>
          <a:ln w="12700">
            <a:miter lim="400000"/>
          </a:ln>
        </p:spPr>
        <p:txBody>
          <a:bodyPr lIns="45719" rIns="45719"/>
          <a:lstStyle/>
          <a:p>
            <a:pPr/>
          </a:p>
        </p:txBody>
      </p:sp>
      <p:sp>
        <p:nvSpPr>
          <p:cNvPr id="388" name="Text 10"/>
          <p:cNvSpPr txBox="1"/>
          <p:nvPr/>
        </p:nvSpPr>
        <p:spPr>
          <a:xfrm>
            <a:off x="777239" y="2458719"/>
            <a:ext cx="365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02</a:t>
            </a:r>
          </a:p>
        </p:txBody>
      </p:sp>
      <p:sp>
        <p:nvSpPr>
          <p:cNvPr id="389" name="Text 11"/>
          <p:cNvSpPr txBox="1"/>
          <p:nvPr/>
        </p:nvSpPr>
        <p:spPr>
          <a:xfrm>
            <a:off x="1371600" y="2394711"/>
            <a:ext cx="2743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Write SKILL.md</a:t>
            </a:r>
          </a:p>
        </p:txBody>
      </p:sp>
      <p:sp>
        <p:nvSpPr>
          <p:cNvPr id="390" name="Text 12"/>
          <p:cNvSpPr txBox="1"/>
          <p:nvPr/>
        </p:nvSpPr>
        <p:spPr>
          <a:xfrm>
            <a:off x="1371600" y="2694354"/>
            <a:ext cx="713231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Document instructions, triggers, templates, and best practices</a:t>
            </a:r>
          </a:p>
        </p:txBody>
      </p:sp>
      <p:sp>
        <p:nvSpPr>
          <p:cNvPr id="391" name="Shape 13"/>
          <p:cNvSpPr/>
          <p:nvPr/>
        </p:nvSpPr>
        <p:spPr>
          <a:xfrm>
            <a:off x="548640" y="3063239"/>
            <a:ext cx="8229601" cy="64008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92" name="Shape 14"/>
          <p:cNvSpPr/>
          <p:nvPr/>
        </p:nvSpPr>
        <p:spPr>
          <a:xfrm>
            <a:off x="731519" y="3154679"/>
            <a:ext cx="457201" cy="457201"/>
          </a:xfrm>
          <a:prstGeom prst="ellipse">
            <a:avLst/>
          </a:prstGeom>
          <a:solidFill>
            <a:srgbClr val="1C7293"/>
          </a:solidFill>
          <a:ln w="12700">
            <a:miter lim="400000"/>
          </a:ln>
        </p:spPr>
        <p:txBody>
          <a:bodyPr lIns="45719" rIns="45719"/>
          <a:lstStyle/>
          <a:p>
            <a:pPr/>
          </a:p>
        </p:txBody>
      </p:sp>
      <p:sp>
        <p:nvSpPr>
          <p:cNvPr id="393" name="Text 15"/>
          <p:cNvSpPr txBox="1"/>
          <p:nvPr/>
        </p:nvSpPr>
        <p:spPr>
          <a:xfrm>
            <a:off x="777239" y="3235959"/>
            <a:ext cx="365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03</a:t>
            </a:r>
          </a:p>
        </p:txBody>
      </p:sp>
      <p:sp>
        <p:nvSpPr>
          <p:cNvPr id="394" name="Text 16"/>
          <p:cNvSpPr txBox="1"/>
          <p:nvPr/>
        </p:nvSpPr>
        <p:spPr>
          <a:xfrm>
            <a:off x="1371600" y="3171952"/>
            <a:ext cx="2743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Add Scripts &amp; Templates</a:t>
            </a:r>
          </a:p>
        </p:txBody>
      </p:sp>
      <p:sp>
        <p:nvSpPr>
          <p:cNvPr id="395" name="Text 17"/>
          <p:cNvSpPr txBox="1"/>
          <p:nvPr/>
        </p:nvSpPr>
        <p:spPr>
          <a:xfrm>
            <a:off x="1371600" y="3471594"/>
            <a:ext cx="713231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Include helper scripts, sample data, and output templates</a:t>
            </a:r>
          </a:p>
        </p:txBody>
      </p:sp>
      <p:sp>
        <p:nvSpPr>
          <p:cNvPr id="396" name="Shape 18"/>
          <p:cNvSpPr/>
          <p:nvPr/>
        </p:nvSpPr>
        <p:spPr>
          <a:xfrm>
            <a:off x="548640" y="3840479"/>
            <a:ext cx="8229601" cy="640081"/>
          </a:xfrm>
          <a:prstGeom prst="rect">
            <a:avLst/>
          </a:prstGeom>
          <a:solidFill>
            <a:srgbClr val="FFFFFF"/>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397" name="Shape 19"/>
          <p:cNvSpPr/>
          <p:nvPr/>
        </p:nvSpPr>
        <p:spPr>
          <a:xfrm>
            <a:off x="731519" y="3931920"/>
            <a:ext cx="457201" cy="457201"/>
          </a:xfrm>
          <a:prstGeom prst="ellipse">
            <a:avLst/>
          </a:prstGeom>
          <a:solidFill>
            <a:srgbClr val="1C7293"/>
          </a:solidFill>
          <a:ln w="12700">
            <a:miter lim="400000"/>
          </a:ln>
        </p:spPr>
        <p:txBody>
          <a:bodyPr lIns="45719" rIns="45719"/>
          <a:lstStyle/>
          <a:p>
            <a:pPr/>
          </a:p>
        </p:txBody>
      </p:sp>
      <p:sp>
        <p:nvSpPr>
          <p:cNvPr id="398" name="Text 20"/>
          <p:cNvSpPr txBox="1"/>
          <p:nvPr/>
        </p:nvSpPr>
        <p:spPr>
          <a:xfrm>
            <a:off x="777239" y="4013200"/>
            <a:ext cx="365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04</a:t>
            </a:r>
          </a:p>
        </p:txBody>
      </p:sp>
      <p:sp>
        <p:nvSpPr>
          <p:cNvPr id="399" name="Text 21"/>
          <p:cNvSpPr txBox="1"/>
          <p:nvPr/>
        </p:nvSpPr>
        <p:spPr>
          <a:xfrm>
            <a:off x="1371600" y="3949192"/>
            <a:ext cx="2743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A2E"/>
                </a:solidFill>
                <a:latin typeface="Georgia"/>
                <a:ea typeface="Georgia"/>
                <a:cs typeface="Georgia"/>
                <a:sym typeface="Georgia"/>
              </a:defRPr>
            </a:lvl1pPr>
          </a:lstStyle>
          <a:p>
            <a:pPr/>
            <a:r>
              <a:t>Test &amp; Iterate</a:t>
            </a:r>
          </a:p>
        </p:txBody>
      </p:sp>
      <p:sp>
        <p:nvSpPr>
          <p:cNvPr id="400" name="Text 22"/>
          <p:cNvSpPr txBox="1"/>
          <p:nvPr/>
        </p:nvSpPr>
        <p:spPr>
          <a:xfrm>
            <a:off x="1371600" y="4248834"/>
            <a:ext cx="7132319"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6E80"/>
                </a:solidFill>
              </a:defRPr>
            </a:lvl1pPr>
          </a:lstStyle>
          <a:p>
            <a:pPr/>
            <a:r>
              <a:t>Run the skill, review outputs, refine until quality is consistent</a:t>
            </a:r>
          </a:p>
        </p:txBody>
      </p:sp>
      <p:sp>
        <p:nvSpPr>
          <p:cNvPr id="401" name="Shape 23"/>
          <p:cNvSpPr/>
          <p:nvPr/>
        </p:nvSpPr>
        <p:spPr>
          <a:xfrm>
            <a:off x="548640" y="4565650"/>
            <a:ext cx="8229601" cy="12700"/>
          </a:xfrm>
          <a:prstGeom prst="rect">
            <a:avLst/>
          </a:prstGeom>
          <a:solidFill>
            <a:srgbClr val="1C7293"/>
          </a:solidFill>
          <a:ln w="12700">
            <a:miter lim="400000"/>
          </a:ln>
        </p:spPr>
        <p:txBody>
          <a:bodyPr lIns="45719" rIns="45719"/>
          <a:lstStyle/>
          <a:p>
            <a:pPr/>
          </a:p>
        </p:txBody>
      </p:sp>
      <p:sp>
        <p:nvSpPr>
          <p:cNvPr id="402" name="Text 24"/>
          <p:cNvSpPr txBox="1"/>
          <p:nvPr/>
        </p:nvSpPr>
        <p:spPr>
          <a:xfrm>
            <a:off x="594360" y="4390566"/>
            <a:ext cx="81381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C7293"/>
                </a:solidFill>
              </a:defRPr>
            </a:lvl1pPr>
          </a:lstStyle>
          <a:p>
            <a:pPr/>
            <a:r>
              <a:t>github.com/anthropics/skills — Official skill repository &amp; examples</a:t>
            </a:r>
          </a:p>
        </p:txBody>
      </p:sp>
      <p:sp>
        <p:nvSpPr>
          <p:cNvPr id="403" name="Shape 25"/>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404" name="Text 26"/>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19 / 21</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406"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407" name="Text 1"/>
          <p:cNvSpPr txBox="1"/>
          <p:nvPr/>
        </p:nvSpPr>
        <p:spPr>
          <a:xfrm>
            <a:off x="548640" y="403860"/>
            <a:ext cx="82296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Example: Golf Tournament Report Skill</a:t>
            </a:r>
          </a:p>
        </p:txBody>
      </p:sp>
      <p:sp>
        <p:nvSpPr>
          <p:cNvPr id="408" name="Shape 2"/>
          <p:cNvSpPr/>
          <p:nvPr/>
        </p:nvSpPr>
        <p:spPr>
          <a:xfrm>
            <a:off x="548640" y="1097279"/>
            <a:ext cx="8046719" cy="3474722"/>
          </a:xfrm>
          <a:prstGeom prst="rect">
            <a:avLst/>
          </a:prstGeom>
          <a:solidFill>
            <a:srgbClr val="0D1117"/>
          </a:solidFill>
          <a:ln w="12700">
            <a:miter lim="400000"/>
          </a:ln>
          <a:effectLst>
            <a:outerShdw sx="100000" sy="100000" kx="0" ky="0" algn="b" rotWithShape="0" blurRad="76200" dist="25400" dir="8100000">
              <a:srgbClr val="000000">
                <a:alpha val="12000"/>
              </a:srgbClr>
            </a:outerShdw>
          </a:effectLst>
        </p:spPr>
        <p:txBody>
          <a:bodyPr lIns="45719" rIns="45719"/>
          <a:lstStyle/>
          <a:p>
            <a:pPr/>
          </a:p>
        </p:txBody>
      </p:sp>
      <p:sp>
        <p:nvSpPr>
          <p:cNvPr id="409" name="Text 3"/>
          <p:cNvSpPr txBox="1"/>
          <p:nvPr/>
        </p:nvSpPr>
        <p:spPr>
          <a:xfrm>
            <a:off x="960119" y="1423670"/>
            <a:ext cx="7223762" cy="282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200">
                <a:solidFill>
                  <a:srgbClr val="7EE787"/>
                </a:solidFill>
                <a:latin typeface="Consolas"/>
                <a:ea typeface="Consolas"/>
                <a:cs typeface="Consolas"/>
                <a:sym typeface="Consolas"/>
              </a:defRPr>
            </a:pPr>
            <a:r>
              <a:t># SKILL.md — Golf Tournament Report</a:t>
            </a:r>
          </a:p>
          <a:p>
            <a:pPr>
              <a:defRPr sz="1200"/>
            </a:pPr>
          </a:p>
          <a:p>
            <a:pPr>
              <a:defRPr b="1" sz="1100">
                <a:solidFill>
                  <a:srgbClr val="79C0FF"/>
                </a:solidFill>
                <a:latin typeface="Consolas"/>
                <a:ea typeface="Consolas"/>
                <a:cs typeface="Consolas"/>
                <a:sym typeface="Consolas"/>
              </a:defRPr>
            </a:pPr>
            <a:r>
              <a:t>## Trigger</a:t>
            </a:r>
            <a:endParaRPr sz="1200"/>
          </a:p>
          <a:p>
            <a:pPr>
              <a:defRPr sz="1100">
                <a:solidFill>
                  <a:srgbClr val="C9D1D9"/>
                </a:solidFill>
                <a:latin typeface="Consolas"/>
                <a:ea typeface="Consolas"/>
                <a:cs typeface="Consolas"/>
                <a:sym typeface="Consolas"/>
              </a:defRPr>
            </a:pPr>
            <a:r>
              <a:t>When user asks to create a tournament report,</a:t>
            </a:r>
            <a:endParaRPr sz="1200"/>
          </a:p>
          <a:p>
            <a:pPr>
              <a:defRPr sz="1100">
                <a:solidFill>
                  <a:srgbClr val="C9D1D9"/>
                </a:solidFill>
                <a:latin typeface="Consolas"/>
                <a:ea typeface="Consolas"/>
                <a:cs typeface="Consolas"/>
                <a:sym typeface="Consolas"/>
              </a:defRPr>
            </a:pPr>
            <a:r>
              <a:t>post-event summary, or sponsor deliverable.</a:t>
            </a:r>
            <a:endParaRPr sz="1200"/>
          </a:p>
          <a:p>
            <a:pPr>
              <a:defRPr sz="1200"/>
            </a:pPr>
          </a:p>
          <a:p>
            <a:pPr>
              <a:defRPr b="1" sz="1100">
                <a:solidFill>
                  <a:srgbClr val="79C0FF"/>
                </a:solidFill>
                <a:latin typeface="Consolas"/>
                <a:ea typeface="Consolas"/>
                <a:cs typeface="Consolas"/>
                <a:sym typeface="Consolas"/>
              </a:defRPr>
            </a:pPr>
            <a:r>
              <a:t>## Instructions</a:t>
            </a:r>
            <a:endParaRPr sz="1200"/>
          </a:p>
          <a:p>
            <a:pPr>
              <a:defRPr sz="1100">
                <a:solidFill>
                  <a:srgbClr val="C9D1D9"/>
                </a:solidFill>
                <a:latin typeface="Consolas"/>
                <a:ea typeface="Consolas"/>
                <a:cs typeface="Consolas"/>
                <a:sym typeface="Consolas"/>
              </a:defRPr>
            </a:pPr>
            <a:r>
              <a:t>1. Collect: event name, date, participants,</a:t>
            </a:r>
            <a:endParaRPr sz="1200"/>
          </a:p>
          <a:p>
            <a:pPr>
              <a:defRPr sz="1100">
                <a:solidFill>
                  <a:srgbClr val="C9D1D9"/>
                </a:solidFill>
                <a:latin typeface="Consolas"/>
                <a:ea typeface="Consolas"/>
                <a:cs typeface="Consolas"/>
                <a:sym typeface="Consolas"/>
              </a:defRPr>
            </a:pPr>
            <a:r>
              <a:t>   scores, sponsors, and revenue data</a:t>
            </a:r>
            <a:endParaRPr sz="1200"/>
          </a:p>
          <a:p>
            <a:pPr>
              <a:defRPr sz="1100">
                <a:solidFill>
                  <a:srgbClr val="C9D1D9"/>
                </a:solidFill>
                <a:latin typeface="Consolas"/>
                <a:ea typeface="Consolas"/>
                <a:cs typeface="Consolas"/>
                <a:sym typeface="Consolas"/>
              </a:defRPr>
            </a:pPr>
            <a:r>
              <a:t>2. Generate: Executive summary, leaderboard,</a:t>
            </a:r>
            <a:endParaRPr sz="1200"/>
          </a:p>
          <a:p>
            <a:pPr>
              <a:defRPr sz="1100">
                <a:solidFill>
                  <a:srgbClr val="C9D1D9"/>
                </a:solidFill>
                <a:latin typeface="Consolas"/>
                <a:ea typeface="Consolas"/>
                <a:cs typeface="Consolas"/>
                <a:sym typeface="Consolas"/>
              </a:defRPr>
            </a:pPr>
            <a:r>
              <a:t>   sponsor ROI, photo highlights</a:t>
            </a:r>
            <a:endParaRPr sz="1200"/>
          </a:p>
          <a:p>
            <a:pPr>
              <a:defRPr sz="1100">
                <a:solidFill>
                  <a:srgbClr val="C9D1D9"/>
                </a:solidFill>
                <a:latin typeface="Consolas"/>
                <a:ea typeface="Consolas"/>
                <a:cs typeface="Consolas"/>
                <a:sym typeface="Consolas"/>
              </a:defRPr>
            </a:pPr>
            <a:r>
              <a:t>3. Output: Professional DOCX with branding</a:t>
            </a:r>
            <a:endParaRPr sz="1200"/>
          </a:p>
          <a:p>
            <a:pPr>
              <a:defRPr sz="1200"/>
            </a:pPr>
          </a:p>
          <a:p>
            <a:pPr>
              <a:defRPr b="1" sz="1100">
                <a:solidFill>
                  <a:srgbClr val="79C0FF"/>
                </a:solidFill>
                <a:latin typeface="Consolas"/>
                <a:ea typeface="Consolas"/>
                <a:cs typeface="Consolas"/>
                <a:sym typeface="Consolas"/>
              </a:defRPr>
            </a:pPr>
            <a:r>
              <a:t>## Output Format</a:t>
            </a:r>
            <a:endParaRPr sz="1200"/>
          </a:p>
          <a:p>
            <a:pPr>
              <a:defRPr sz="1100">
                <a:solidFill>
                  <a:srgbClr val="C9D1D9"/>
                </a:solidFill>
                <a:latin typeface="Consolas"/>
                <a:ea typeface="Consolas"/>
                <a:cs typeface="Consolas"/>
                <a:sym typeface="Consolas"/>
              </a:defRPr>
            </a:pPr>
            <a:r>
              <a:t>Word document with cover page, TOC,</a:t>
            </a:r>
            <a:endParaRPr sz="1200"/>
          </a:p>
          <a:p>
            <a:pPr>
              <a:defRPr sz="1100">
                <a:solidFill>
                  <a:srgbClr val="C9D1D9"/>
                </a:solidFill>
                <a:latin typeface="Consolas"/>
                <a:ea typeface="Consolas"/>
                <a:cs typeface="Consolas"/>
                <a:sym typeface="Consolas"/>
              </a:defRPr>
            </a:pPr>
            <a:r>
              <a:t>charts, and sponsor acknowledgment section.</a:t>
            </a:r>
          </a:p>
        </p:txBody>
      </p:sp>
      <p:sp>
        <p:nvSpPr>
          <p:cNvPr id="410" name="Shape 4"/>
          <p:cNvSpPr/>
          <p:nvPr/>
        </p:nvSpPr>
        <p:spPr>
          <a:xfrm>
            <a:off x="0" y="4800600"/>
            <a:ext cx="9144000" cy="342900"/>
          </a:xfrm>
          <a:prstGeom prst="rect">
            <a:avLst/>
          </a:prstGeom>
          <a:solidFill>
            <a:srgbClr val="0F1B2D"/>
          </a:solidFill>
          <a:ln w="12700">
            <a:miter lim="400000"/>
          </a:ln>
        </p:spPr>
        <p:txBody>
          <a:bodyPr lIns="45719" rIns="45719"/>
          <a:lstStyle/>
          <a:p>
            <a:pPr/>
          </a:p>
        </p:txBody>
      </p:sp>
      <p:sp>
        <p:nvSpPr>
          <p:cNvPr id="411" name="Text 5"/>
          <p:cNvSpPr txBox="1"/>
          <p:nvPr/>
        </p:nvSpPr>
        <p:spPr>
          <a:xfrm>
            <a:off x="7818119" y="486909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A6E80"/>
                </a:solidFill>
              </a:defRPr>
            </a:lvl1pPr>
          </a:lstStyle>
          <a:p>
            <a:pPr/>
            <a:r>
              <a:t>20 / 21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28"/>
        </a:solidFill>
      </p:bgPr>
    </p:bg>
    <p:spTree>
      <p:nvGrpSpPr>
        <p:cNvPr id="1" name=""/>
        <p:cNvGrpSpPr/>
        <p:nvPr/>
      </p:nvGrpSpPr>
      <p:grpSpPr>
        <a:xfrm>
          <a:off x="0" y="0"/>
          <a:ext cx="0" cy="0"/>
          <a:chOff x="0" y="0"/>
          <a:chExt cx="0" cy="0"/>
        </a:xfrm>
      </p:grpSpPr>
      <p:sp>
        <p:nvSpPr>
          <p:cNvPr id="413" name="Shape 0"/>
          <p:cNvSpPr/>
          <p:nvPr/>
        </p:nvSpPr>
        <p:spPr>
          <a:xfrm>
            <a:off x="0" y="-1"/>
            <a:ext cx="9144000" cy="73154"/>
          </a:xfrm>
          <a:prstGeom prst="rect">
            <a:avLst/>
          </a:prstGeom>
          <a:solidFill>
            <a:srgbClr val="00B4D8"/>
          </a:solidFill>
          <a:ln w="12700">
            <a:miter lim="400000"/>
          </a:ln>
        </p:spPr>
        <p:txBody>
          <a:bodyPr lIns="45719" rIns="45719"/>
          <a:lstStyle/>
          <a:p>
            <a:pPr/>
          </a:p>
        </p:txBody>
      </p:sp>
      <p:sp>
        <p:nvSpPr>
          <p:cNvPr id="414" name="Shape 1"/>
          <p:cNvSpPr/>
          <p:nvPr/>
        </p:nvSpPr>
        <p:spPr>
          <a:xfrm>
            <a:off x="5943600" y="457199"/>
            <a:ext cx="4114800" cy="4114801"/>
          </a:xfrm>
          <a:prstGeom prst="ellipse">
            <a:avLst/>
          </a:prstGeom>
          <a:solidFill>
            <a:srgbClr val="065A82">
              <a:alpha val="60000"/>
            </a:srgbClr>
          </a:solidFill>
          <a:ln w="12700">
            <a:miter lim="400000"/>
          </a:ln>
        </p:spPr>
        <p:txBody>
          <a:bodyPr lIns="45719" rIns="45719"/>
          <a:lstStyle/>
          <a:p>
            <a:pPr/>
          </a:p>
        </p:txBody>
      </p:sp>
      <p:sp>
        <p:nvSpPr>
          <p:cNvPr id="415" name="Shape 2"/>
          <p:cNvSpPr/>
          <p:nvPr/>
        </p:nvSpPr>
        <p:spPr>
          <a:xfrm>
            <a:off x="6583680" y="1097280"/>
            <a:ext cx="2743201" cy="2743201"/>
          </a:xfrm>
          <a:prstGeom prst="ellipse">
            <a:avLst/>
          </a:prstGeom>
          <a:solidFill>
            <a:srgbClr val="1C7293">
              <a:alpha val="50000"/>
            </a:srgbClr>
          </a:solidFill>
          <a:ln w="12700">
            <a:miter lim="400000"/>
          </a:ln>
        </p:spPr>
        <p:txBody>
          <a:bodyPr lIns="45719" rIns="45719"/>
          <a:lstStyle/>
          <a:p>
            <a:pPr/>
          </a:p>
        </p:txBody>
      </p:sp>
      <p:sp>
        <p:nvSpPr>
          <p:cNvPr id="416" name="Text 3"/>
          <p:cNvSpPr txBox="1"/>
          <p:nvPr/>
        </p:nvSpPr>
        <p:spPr>
          <a:xfrm>
            <a:off x="777239" y="1282700"/>
            <a:ext cx="5394961" cy="726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4400">
                <a:solidFill>
                  <a:srgbClr val="FFFFFF"/>
                </a:solidFill>
                <a:latin typeface="Georgia"/>
                <a:ea typeface="Georgia"/>
                <a:cs typeface="Georgia"/>
                <a:sym typeface="Georgia"/>
              </a:defRPr>
            </a:lvl1pPr>
          </a:lstStyle>
          <a:p>
            <a:pPr/>
            <a:r>
              <a:t>Thank You</a:t>
            </a:r>
          </a:p>
        </p:txBody>
      </p:sp>
      <p:sp>
        <p:nvSpPr>
          <p:cNvPr id="417" name="Text 4"/>
          <p:cNvSpPr txBox="1"/>
          <p:nvPr/>
        </p:nvSpPr>
        <p:spPr>
          <a:xfrm>
            <a:off x="777239" y="2256616"/>
            <a:ext cx="448056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00B4D8"/>
                </a:solidFill>
              </a:defRPr>
            </a:lvl1pPr>
          </a:lstStyle>
          <a:p>
            <a:pPr/>
            <a:r>
              <a:t>Questions &amp; Discussion</a:t>
            </a:r>
          </a:p>
        </p:txBody>
      </p:sp>
      <p:sp>
        <p:nvSpPr>
          <p:cNvPr id="418" name="Text 5"/>
          <p:cNvSpPr txBox="1"/>
          <p:nvPr/>
        </p:nvSpPr>
        <p:spPr>
          <a:xfrm>
            <a:off x="960119" y="3053387"/>
            <a:ext cx="49377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marL="342900" indent="-342900">
              <a:buSzPct val="100000"/>
              <a:buChar char="•"/>
              <a:defRPr sz="1200">
                <a:solidFill>
                  <a:srgbClr val="E8EEF2"/>
                </a:solidFill>
              </a:defRPr>
            </a:lvl1pPr>
          </a:lstStyle>
          <a:p>
            <a:pPr/>
            <a:r>
              <a:t>AI is already transforming sports management — don't get left behind</a:t>
            </a:r>
          </a:p>
        </p:txBody>
      </p:sp>
      <p:sp>
        <p:nvSpPr>
          <p:cNvPr id="419" name="Text 6"/>
          <p:cNvSpPr txBox="1"/>
          <p:nvPr/>
        </p:nvSpPr>
        <p:spPr>
          <a:xfrm>
            <a:off x="960119" y="3419147"/>
            <a:ext cx="49377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marL="342900" indent="-342900">
              <a:buSzPct val="100000"/>
              <a:buChar char="•"/>
              <a:defRPr sz="1200">
                <a:solidFill>
                  <a:srgbClr val="E8EEF2"/>
                </a:solidFill>
              </a:defRPr>
            </a:lvl1pPr>
          </a:lstStyle>
          <a:p>
            <a:pPr/>
            <a:r>
              <a:t>Context engineering &gt; prompt engineering — curate your inputs</a:t>
            </a:r>
          </a:p>
        </p:txBody>
      </p:sp>
      <p:sp>
        <p:nvSpPr>
          <p:cNvPr id="420" name="Text 7"/>
          <p:cNvSpPr txBox="1"/>
          <p:nvPr/>
        </p:nvSpPr>
        <p:spPr>
          <a:xfrm>
            <a:off x="960119" y="3784907"/>
            <a:ext cx="49377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marL="342900" indent="-342900">
              <a:buSzPct val="100000"/>
              <a:buChar char="•"/>
              <a:defRPr sz="1200">
                <a:solidFill>
                  <a:srgbClr val="E8EEF2"/>
                </a:solidFill>
              </a:defRPr>
            </a:lvl1pPr>
          </a:lstStyle>
          <a:p>
            <a:pPr/>
            <a:r>
              <a:t>Token costs are plummeting — AI is increasingly accessible</a:t>
            </a:r>
          </a:p>
        </p:txBody>
      </p:sp>
      <p:sp>
        <p:nvSpPr>
          <p:cNvPr id="421" name="Text 8"/>
          <p:cNvSpPr txBox="1"/>
          <p:nvPr/>
        </p:nvSpPr>
        <p:spPr>
          <a:xfrm>
            <a:off x="960119" y="4150667"/>
            <a:ext cx="493776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marL="342900" indent="-342900">
              <a:buSzPct val="100000"/>
              <a:buChar char="•"/>
              <a:defRPr sz="1200">
                <a:solidFill>
                  <a:srgbClr val="E8EEF2"/>
                </a:solidFill>
              </a:defRPr>
            </a:lvl1pPr>
          </a:lstStyle>
          <a:p>
            <a:pPr/>
            <a:r>
              <a:t>Build skills in Claude to automate your repeatable workflows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